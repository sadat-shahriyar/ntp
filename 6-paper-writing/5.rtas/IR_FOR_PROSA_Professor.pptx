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Roboto Mono" pitchFamily="49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BF3E1AF-EC58-4349-810D-E52BD94FEFEF}">
  <a:tblStyle styleId="{2BF3E1AF-EC58-4349-810D-E52BD94FEF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2534"/>
  </p:normalViewPr>
  <p:slideViewPr>
    <p:cSldViewPr snapToGrid="0">
      <p:cViewPr varScale="1">
        <p:scale>
          <a:sx n="138" d="100"/>
          <a:sy n="138" d="100"/>
        </p:scale>
        <p:origin x="10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goal is not direct text-to-Rocq translation. The IR layer makes the recovered real-time semantics and proof obligations explicit before code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lvl="0" indent="-2984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>
                <a:solidFill>
                  <a:srgbClr val="1D1C1D"/>
                </a:solidFill>
              </a:rPr>
              <a:t>A paper mixes these layers in prose and mathematics; Prosa makes their dependencies explicit.</a:t>
            </a:r>
          </a:p>
          <a:p>
            <a:pPr marL="6858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endParaRPr>
              <a:solidFill>
                <a:srgbClr val="1D1C1D"/>
              </a:solidFill>
            </a:endParaRPr>
          </a:p>
          <a:p>
            <a:pPr marL="6858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>
                <a:solidFill>
                  <a:srgbClr val="1D1C1D"/>
                </a:solidFill>
              </a:rPr>
              <a:t>[Sources]</a:t>
            </a:r>
          </a:p>
          <a:p>
            <a:pPr marL="0" lv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t>- https://prosa.mpi-sws.org/releases/v0.6/index.html</a:t>
            </a:r>
          </a:p>
          <a:p>
            <a:pPr marL="0" lv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t>- https://prosa.mpi-sws.org/branches/master/pretty/toc.html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</a:rPr>
              <a:t>The structural similarity is useful, but a paper section is not a Prosa module. The IR must recover semantic commitments and their dependencies.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</a:rPr>
              <a:t>[Sources]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</a:rPr>
              <a:t>- https://prosa.mpi-sws.org/releases/v0.6/index.html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dk1"/>
                </a:solidFill>
              </a:rPr>
              <a:t>- https://prosa.mpi-sws.org/get-started/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example separates extraction from completion. Unspecified choices become explicit unresolved fields or human-review questions rather than LLM guesses.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</a:rPr>
              <a:t>The LLM is used for semantic recovery, candidate generation, and repair proposals. Deterministic schema checks and Rocq verification constrain each stage.</a:t>
            </a:r>
            <a:endParaRPr>
              <a:solidFill>
                <a:srgbClr val="1D1C1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</a:rPr>
              <a:t>These are semantic views rather than three destructive compiler lowerings. Shared identifiers enable consistency checks and diagnostic routing.</a:t>
            </a:r>
            <a:endParaRPr>
              <a:solidFill>
                <a:srgbClr val="1D1C1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38100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The Model IR must not contain the schedulability theorem or analysis criterion. Those belong in the Analysis and Proof views.</a:t>
            </a:r>
            <a:endParaRPr>
              <a:solidFill>
                <a:schemeClr val="dk1"/>
              </a:solidFill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>[Sources]</a:t>
            </a:r>
            <a:endParaRPr>
              <a:solidFill>
                <a:schemeClr val="dk1"/>
              </a:solidFill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>- Probabilistic EDF running example adapted from the user-provided source deck; original paper citation remains to be added.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38100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Analysis IR defines quantities and a candidate test but does not yet assert that the test is sound. Probability events, domains, and composition operators must be explicit.</a:t>
            </a:r>
            <a:endParaRPr>
              <a:solidFill>
                <a:schemeClr val="dk1"/>
              </a:solidFill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1D1C1D"/>
              </a:solidFill>
            </a:endParaRPr>
          </a:p>
          <a:p>
            <a:pPr marL="685800" lvl="0" indent="-29845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>
                <a:solidFill>
                  <a:srgbClr val="1D1C1D"/>
                </a:solidFill>
              </a:rPr>
              <a:t>[Sources]</a:t>
            </a:r>
          </a:p>
          <a:p>
            <a:pPr marL="68580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100"/>
              <a:buChar char="●"/>
            </a:pPr>
            <a:r>
              <a:rPr>
                <a:solidFill>
                  <a:srgbClr val="1D1C1D"/>
                </a:solidFill>
              </a:rPr>
              <a:t>- Probabilistic EDF running example adapted from the user-provided source deck; original paper citation remains to be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38100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>
                <a:solidFill>
                  <a:srgbClr val="188038"/>
                </a:solidFill>
                <a:latin typeface="Roboto Mono"/>
                <a:ea typeface="Roboto Mono"/>
                <a:cs typeface="Roboto Mono"/>
              </a:rPr>
              <a:t>A theorem statement plus a dependency list is insufficient. The Proof IR must expose intermediate claims, proof strategy, open obligations, and evidence.</a:t>
            </a:r>
            <a:endParaRPr>
              <a:solidFill>
                <a:schemeClr val="dk1"/>
              </a:solidFill>
            </a:endParaRP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</a:pPr>
            <a:r>
              <a:t>- Probabilistic EDF running example adapted from the user-provided source deck; original paper citation remains to be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checks create measurable intermediate correctness targets and prevent inconsistent IR views from reaching Prosa code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</a:rPr>
              <a:t>The semantic matcher is a candidate generator. A match is accepted only after required parameters and assumptions align or a bridge obligation is proven.</a:t>
            </a:r>
            <a:endParaRPr>
              <a:solidFill>
                <a:srgbClr val="1D1C1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No-match does not automatically mean extension. It may indicate a source ambiguity, incompatible assumptions, or failed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Prosa names and types must come from a version-pinned declaration inventory rather than model memory.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https://prosa.mpi-sws.org/get-prosa.html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https://prosa.mpi-sws.org/branches/master/pretty/toc.html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</a:rPr>
              <a:t>The LLM never adjudicates correctness. It classifies diagnostics and proposes localized repairs; Rocq alone accepts or rejects the proof.</a:t>
            </a:r>
            <a:endParaRPr>
              <a:solidFill>
                <a:srgbClr val="1D1C1D"/>
              </a:solidFill>
            </a:endParaRPr>
          </a:p>
          <a:p>
            <a:pPr marL="0" lvl="0" indent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>
              <a:solidFill>
                <a:srgbClr val="1D1C1D"/>
              </a:solidFill>
            </a:endParaRPr>
          </a:p>
          <a:p>
            <a:pPr marL="0" lvl="0" indent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</a:rPr>
              <a:t>[Sources]</a:t>
            </a:r>
            <a:endParaRPr>
              <a:solidFill>
                <a:srgbClr val="1D1C1D"/>
              </a:solidFill>
            </a:endParaRPr>
          </a:p>
          <a:p>
            <a:pPr marL="0" lvl="0" indent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D1C1D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</a:rPr>
              <a:t>- https://prosa.mpi-sws.org/</a:t>
            </a:r>
            <a:endParaRPr>
              <a:solidFill>
                <a:srgbClr val="1D1C1D"/>
              </a:solidFill>
            </a:endParaRPr>
          </a:p>
          <a:p>
            <a:pPr marL="0" lv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t>- https://prosa.mpi-sws.org/get-started/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successfully generated file is not the final product. The result must expose what was verified, under which assumptions, and what remains unresolved.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Stage-specific evaluation reveals whether failures arise from paper understanding, cross-IR consistency, Prosa grounding, or proof completion.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Central thesis: IRs make the translation process inspectable and testable, while Rocq preserves the final correctness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6D1423E2-9F7B-4C50-AF58-2933E03A9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B533AB01-E6C7-4CF9-88CB-C3ED499ED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DA685FDE-D897-472B-AD0E-B1EB405FD6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03117E38-4E5D-4177-97DA-4DF3372F0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A85CC5E5-DFCE-499C-8789-D5AA803F16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01268E45-F570-4E4B-B3CC-23A001A3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31DE22E2-25DB-47E0-80AF-A6BF1E074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F503C13B-BC15-425F-888C-E56404627A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EAB75065-4536-40B6-83E2-83AC642E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C6258E12-B264-44BD-8AC9-0220DB9C4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ADD57BE8-2917-489E-9B6D-EE98B8F98F2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B2670655-17E4-4E9A-8679-489D900395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8BA070B0-A254-499F-ADEC-AA575A5DF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BF3B6E02-0F8F-47F2-BDBF-D1D6E72EE2F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C40E671B-CD98-4FDA-995B-A9008162A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14772F3D-6DD8-4976-ABB9-B853FA471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28D0CF86-4A75-484D-AE29-DA3D323F22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8C97DE6E-0679-441D-A287-2C20F157C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4CDC6927-A039-4C8B-8E29-C624D2CB37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E7C85019-E916-4B19-A1AD-DC67AA2AB610}"/>
              </a:ext>
            </a:extLst>
          </p:cNvPr>
          <p:cNvSpPr>
            <a:spLocks noGrp="1"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B61FF131-E819-40F7-AF40-B6063FEF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06780AC5-8EC4-4037-8BC6-DCA836B3C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D5678C13-9D95-455C-93DF-A4669E77FA0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8481D656-51E1-4044-8EA4-2356D868364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0C632C67-153D-42D7-96FE-572F036E7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0B3B0A3B-4247-4C31-9D8E-2575980F5F6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E052628F-3FFF-49B7-875F-8B503398C7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A7D64829-580B-4565-81E7-B7E8AE923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E3CD9EB1-6FE0-477D-B3B2-D164048A82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2237751F-CB08-46E0-AE25-89F93A127F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2220872B-9AF8-40F6-9164-7DC987D3F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AE44C3F0-57B2-4AC7-AE7F-9064B3B31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DD1239C3-6FA2-49D7-9E9B-3424C99B45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3A462ED6-5A9F-4299-829C-4EB88F94C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IR-DRIVEN PROSA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PROOF COMPILATION</a:t>
            </a:r>
          </a:p>
        </p:txBody>
      </p:sp>
    </p:spTree>
    <p:extLst>
      <p:ext uri="{BB962C8B-B14F-4D97-AF65-F5344CB8AC3E}">
        <p14:creationId xmlns:p14="http://schemas.microsoft.com/office/powerpoint/2010/main" val="766374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D7E9F496-A5D3-499D-858B-0B876623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Prosa separates four levels of RTS knowledge</a:t>
            </a:r>
          </a:p>
        </p:txBody>
      </p:sp>
      <p:graphicFrame>
        <p:nvGraphicFramePr>
          <p:cNvPr id="63" name="Google Shape;60;p14"/>
          <p:cNvGraphicFramePr/>
          <p:nvPr/>
        </p:nvGraphicFramePr>
        <p:xfrm>
          <a:off x="739350" y="1148800"/>
          <a:ext cx="2858125" cy="3747690"/>
        </p:xfrm>
        <a:graphic>
          <a:graphicData uri="http://schemas.openxmlformats.org/drawingml/2006/table">
            <a:tbl>
              <a:tblPr>
                <a:tableStyleId>{2BF3E1AF-EC58-4349-810D-E52BD94FEFEF}</a:tableStyleId>
              </a:tblPr>
              <a:tblGrid>
                <a:gridCol w="285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80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u="sng"/>
                        <a:t>PROSA LAYERS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2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BEHAVIOR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>Trace semantics: jobs, schedules, service, arrivals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2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MODEL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>Processor, workload, priority, preemption, readiness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2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ANALYSIS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>Workload, interference, busy intervals, bounds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5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RESULTS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>Instantiated schedulability and response-time theorems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22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IMPLEMENTATION</a:t>
                      </a:r>
                    </a:p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0"/>
                        <a:t>Executable and refinement-oriented analyses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4" name="Google Shape;61;p14"/>
          <p:cNvGraphicFramePr/>
          <p:nvPr/>
        </p:nvGraphicFramePr>
        <p:xfrm>
          <a:off x="4110300" y="1148775"/>
          <a:ext cx="4722000" cy="3294000"/>
        </p:xfrm>
        <a:graphic>
          <a:graphicData uri="http://schemas.openxmlformats.org/drawingml/2006/table">
            <a:tbl>
              <a:tblPr>
                <a:tableStyleId>{2BF3E1AF-EC58-4349-810D-E52BD94FEFEF}</a:tableStyleId>
              </a:tblPr>
              <a:tblGrid>
                <a:gridCol w="236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900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u="sng"/>
                        <a:t>RTS PAPER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u="sng"/>
                        <a:t>PROSA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2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Execution semantics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Behavior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2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System assumptions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Model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2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Definitions + lemmas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Analysis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275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Final theorem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Results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577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563265FD-390B-4919-B1A3-8020F90E7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 and Prosa structures do not align one-to-one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141ED1D-7C3C-404A-A18C-6C73170E590D}"/>
              </a:ext>
            </a:extLst>
          </p:cNvPr>
          <p:cNvSpPr>
            <a:spLocks noGrp="1"/>
          </p:cNvSpPr>
          <p:nvPr/>
        </p:nvSpPr>
        <p:spPr>
          <a:xfrm>
            <a:off x="1634789" y="1744751"/>
            <a:ext cx="430773" cy="360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↓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B9BDB46-9459-4B49-B852-BD1C23ADECFC}"/>
              </a:ext>
            </a:extLst>
          </p:cNvPr>
          <p:cNvSpPr>
            <a:spLocks noGrp="1"/>
          </p:cNvSpPr>
          <p:nvPr/>
        </p:nvSpPr>
        <p:spPr>
          <a:xfrm>
            <a:off x="1634789" y="2572820"/>
            <a:ext cx="430773" cy="360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↓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61C5B21-4F51-46D8-BD8B-36F3A17F9DCA}"/>
              </a:ext>
            </a:extLst>
          </p:cNvPr>
          <p:cNvSpPr>
            <a:spLocks noGrp="1"/>
          </p:cNvSpPr>
          <p:nvPr/>
        </p:nvSpPr>
        <p:spPr>
          <a:xfrm>
            <a:off x="1634789" y="3400890"/>
            <a:ext cx="430773" cy="360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↓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F2FD3A81-FB12-4615-95C8-A6EA75FD3B1C}"/>
              </a:ext>
            </a:extLst>
          </p:cNvPr>
          <p:cNvSpPr>
            <a:spLocks noGrp="1"/>
          </p:cNvSpPr>
          <p:nvPr/>
        </p:nvSpPr>
        <p:spPr>
          <a:xfrm>
            <a:off x="680933" y="1323411"/>
            <a:ext cx="2338482" cy="421340"/>
          </a:xfrm>
          <a:prstGeom prst="roundRect">
            <a:avLst>
              <a:gd name="adj" fmla="val 14110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System model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A8F1CAA0-50DD-4437-A2F4-FB82F100017F}"/>
              </a:ext>
            </a:extLst>
          </p:cNvPr>
          <p:cNvSpPr>
            <a:spLocks noGrp="1"/>
          </p:cNvSpPr>
          <p:nvPr/>
        </p:nvSpPr>
        <p:spPr>
          <a:xfrm>
            <a:off x="680933" y="2169099"/>
            <a:ext cx="2338482" cy="427427"/>
          </a:xfrm>
          <a:prstGeom prst="roundRect">
            <a:avLst>
              <a:gd name="adj" fmla="val 14110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 dirty="0">
                <a:solidFill>
                  <a:srgbClr val="202124"/>
                </a:solidFill>
              </a:rPr>
              <a:t>Analysis definitions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D3047252-6F19-4A1A-AF7E-BE2C39FFF6F2}"/>
              </a:ext>
            </a:extLst>
          </p:cNvPr>
          <p:cNvSpPr>
            <a:spLocks noGrp="1"/>
          </p:cNvSpPr>
          <p:nvPr/>
        </p:nvSpPr>
        <p:spPr>
          <a:xfrm>
            <a:off x="680933" y="2950852"/>
            <a:ext cx="2338482" cy="427426"/>
          </a:xfrm>
          <a:prstGeom prst="roundRect">
            <a:avLst>
              <a:gd name="adj" fmla="val 14110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Theorem statement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F71CFD1A-5C4A-4DAF-B7E1-4126EC9CD95D}"/>
              </a:ext>
            </a:extLst>
          </p:cNvPr>
          <p:cNvSpPr>
            <a:spLocks noGrp="1"/>
          </p:cNvSpPr>
          <p:nvPr/>
        </p:nvSpPr>
        <p:spPr>
          <a:xfrm>
            <a:off x="680934" y="3796921"/>
            <a:ext cx="2338482" cy="432038"/>
          </a:xfrm>
          <a:prstGeom prst="roundRect">
            <a:avLst>
              <a:gd name="adj" fmla="val 14110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Proof narrative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9BC623F-8A7D-442F-B5E6-45EA1971678A}"/>
              </a:ext>
            </a:extLst>
          </p:cNvPr>
          <p:cNvSpPr>
            <a:spLocks noGrp="1"/>
          </p:cNvSpPr>
          <p:nvPr/>
        </p:nvSpPr>
        <p:spPr>
          <a:xfrm>
            <a:off x="404008" y="4336968"/>
            <a:ext cx="2892333" cy="3240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B85450"/>
                </a:solidFill>
              </a:defRPr>
            </a:pPr>
            <a:r>
              <a:rPr sz="975" b="0">
                <a:solidFill>
                  <a:srgbClr val="B85450"/>
                </a:solidFill>
              </a:rPr>
              <a:t>Assumptions may be repeated, implicit, or scattered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C686A4E-6E2C-41C1-B6AC-AC13D86F7D89}"/>
              </a:ext>
            </a:extLst>
          </p:cNvPr>
          <p:cNvSpPr>
            <a:spLocks noGrp="1"/>
          </p:cNvSpPr>
          <p:nvPr/>
        </p:nvSpPr>
        <p:spPr>
          <a:xfrm>
            <a:off x="5939292" y="1554487"/>
            <a:ext cx="654066" cy="256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 dirty="0">
                <a:solidFill>
                  <a:srgbClr val="5F6368"/>
                </a:solidFill>
              </a:rPr>
              <a:t>↓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47C22E4-8AEF-401D-8B88-2D6CEF946892}"/>
              </a:ext>
            </a:extLst>
          </p:cNvPr>
          <p:cNvSpPr>
            <a:spLocks noGrp="1"/>
          </p:cNvSpPr>
          <p:nvPr/>
        </p:nvSpPr>
        <p:spPr>
          <a:xfrm>
            <a:off x="5939292" y="2281432"/>
            <a:ext cx="654066" cy="256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↓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CD885C9-EED5-4083-A14E-0FBEC44B1419}"/>
              </a:ext>
            </a:extLst>
          </p:cNvPr>
          <p:cNvSpPr>
            <a:spLocks noGrp="1"/>
          </p:cNvSpPr>
          <p:nvPr/>
        </p:nvSpPr>
        <p:spPr>
          <a:xfrm>
            <a:off x="5939292" y="3025376"/>
            <a:ext cx="654066" cy="256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 dirty="0">
                <a:solidFill>
                  <a:srgbClr val="5F6368"/>
                </a:solidFill>
              </a:rPr>
              <a:t>↓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EA6B213-39AD-4984-A5F4-F73B94B9FC33}"/>
              </a:ext>
            </a:extLst>
          </p:cNvPr>
          <p:cNvSpPr>
            <a:spLocks noGrp="1"/>
          </p:cNvSpPr>
          <p:nvPr/>
        </p:nvSpPr>
        <p:spPr>
          <a:xfrm>
            <a:off x="4740171" y="1226328"/>
            <a:ext cx="3052309" cy="463478"/>
          </a:xfrm>
          <a:prstGeom prst="roundRect">
            <a:avLst>
              <a:gd name="adj" fmla="val 17828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Behavior</a:t>
            </a:r>
          </a:p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trace semantics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68E9317F-8199-417F-B9BE-51A5949AFEB0}"/>
              </a:ext>
            </a:extLst>
          </p:cNvPr>
          <p:cNvSpPr>
            <a:spLocks noGrp="1"/>
          </p:cNvSpPr>
          <p:nvPr/>
        </p:nvSpPr>
        <p:spPr>
          <a:xfrm>
            <a:off x="4740169" y="1901776"/>
            <a:ext cx="3052309" cy="507883"/>
          </a:xfrm>
          <a:prstGeom prst="roundRect">
            <a:avLst>
              <a:gd name="adj" fmla="val 17828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Model</a:t>
            </a:r>
          </a:p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typed assumptions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0391C542-35FE-42B5-AC97-B44BEE861570}"/>
              </a:ext>
            </a:extLst>
          </p:cNvPr>
          <p:cNvSpPr>
            <a:spLocks noGrp="1"/>
          </p:cNvSpPr>
          <p:nvPr/>
        </p:nvSpPr>
        <p:spPr>
          <a:xfrm>
            <a:off x="4740169" y="2618344"/>
            <a:ext cx="3052309" cy="510544"/>
          </a:xfrm>
          <a:prstGeom prst="roundRect">
            <a:avLst>
              <a:gd name="adj" fmla="val 17828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Analysis</a:t>
            </a:r>
          </a:p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definitions + facts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CE2DEAF0-E898-407B-AA59-516DF9473B51}"/>
              </a:ext>
            </a:extLst>
          </p:cNvPr>
          <p:cNvSpPr>
            <a:spLocks noGrp="1"/>
          </p:cNvSpPr>
          <p:nvPr/>
        </p:nvSpPr>
        <p:spPr>
          <a:xfrm>
            <a:off x="4740170" y="3396518"/>
            <a:ext cx="3052309" cy="463478"/>
          </a:xfrm>
          <a:prstGeom prst="roundRect">
            <a:avLst>
              <a:gd name="adj" fmla="val 17828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 dirty="0">
                <a:solidFill>
                  <a:srgbClr val="202124"/>
                </a:solidFill>
              </a:rPr>
              <a:t>Results</a:t>
            </a:r>
          </a:p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 dirty="0">
                <a:solidFill>
                  <a:srgbClr val="202124"/>
                </a:solidFill>
              </a:rPr>
              <a:t>instantiated theorems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3E74F4D-B481-4BE9-A1AF-FC3D41D928AE}"/>
              </a:ext>
            </a:extLst>
          </p:cNvPr>
          <p:cNvSpPr>
            <a:spLocks noGrp="1"/>
          </p:cNvSpPr>
          <p:nvPr/>
        </p:nvSpPr>
        <p:spPr>
          <a:xfrm>
            <a:off x="3813577" y="3884712"/>
            <a:ext cx="4905496" cy="256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F6368"/>
                </a:solidFill>
              </a:defRPr>
            </a:pPr>
            <a:r>
              <a:rPr sz="975" b="0" dirty="0">
                <a:solidFill>
                  <a:srgbClr val="5F6368"/>
                </a:solidFill>
              </a:rPr>
              <a:t>Every dependency must be explicit and type-correct</a:t>
            </a:r>
          </a:p>
        </p:txBody>
      </p:sp>
    </p:spTree>
    <p:extLst>
      <p:ext uri="{BB962C8B-B14F-4D97-AF65-F5344CB8AC3E}">
        <p14:creationId xmlns:p14="http://schemas.microsoft.com/office/powerpoint/2010/main" val="128631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07E92AD5-A1EB-4315-8F90-92D3932C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sentence mixes facts, ambiguity, and omissions</a:t>
            </a:r>
          </a:p>
        </p:txBody>
      </p:sp>
      <p:sp>
        <p:nvSpPr>
          <p:cNvPr id="87" name="Google Shape;87;p18">
            <a:extLst>
              <a:ext uri="{FF2B5EF4-FFF2-40B4-BE49-F238E27FC236}">
                <a16:creationId xmlns:a16="http://schemas.microsoft.com/office/drawing/2014/main" id="{2DC77372-7B25-4382-AE87-6E87E4FF6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594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84715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Consider the statement:</a:t>
            </a:r>
            <a:endParaRPr b="1" i="1"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t>“Tasks are scheduled using a preemptive hierarchical scheduler on a uniprocessor.”</a:t>
            </a:r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t>A faithful translator must preserve what the sentence does—and does not—establish.</a:t>
            </a:r>
          </a:p>
        </p:txBody>
      </p:sp>
      <p:sp>
        <p:nvSpPr>
          <p:cNvPr id="88" name="Google Shape;88;p18">
            <a:extLst>
              <a:ext uri="{FF2B5EF4-FFF2-40B4-BE49-F238E27FC236}">
                <a16:creationId xmlns:a16="http://schemas.microsoft.com/office/drawing/2014/main" id="{9D9CA607-B45C-4BFD-B90B-06B854FA3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81425"/>
            <a:ext cx="8520600" cy="1813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/>
              <a:t>EXPLICIT       → one processor; a hierarchy; some preemption</a:t>
            </a:r>
            <a:endParaRPr/>
          </a:p>
          <a:p>
            <a:pPr marL="0" lvl="0" indent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/>
              <a:t>AMBIGUOUS   → which entities and hierarchy levels preempt?</a:t>
            </a:r>
            <a:endParaRPr/>
          </a:p>
          <a:p>
            <a:pPr marL="0" lvl="0" indent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b="1"/>
              <a:t>MISSING        → FP vs. EDF; ideal vs. supplied processor; task/arrival model</a:t>
            </a:r>
            <a:endParaRPr/>
          </a:p>
          <a:p>
            <a:pPr marL="0" lvl="0" indent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/>
              <a:t>UNSUPPORTED → probabilistic provisioning</a:t>
            </a:r>
            <a:endParaRPr/>
          </a:p>
          <a:p>
            <a:pPr marL="0" lvl="0" indent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b="1"/>
              <a:t>The IR records unknowns instead of silently inventing assumptions.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586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>
            <a:extLst>
              <a:ext uri="{FF2B5EF4-FFF2-40B4-BE49-F238E27FC236}">
                <a16:creationId xmlns:a16="http://schemas.microsoft.com/office/drawing/2014/main" id="{15CE0833-AC8A-4B05-BCF4-FD3CE9A8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IR separates proof understanding from formalization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8197B17-DE26-44D7-BD7C-1B4827A40AE2}"/>
              </a:ext>
            </a:extLst>
          </p:cNvPr>
          <p:cNvSpPr>
            <a:spLocks noGrp="1"/>
          </p:cNvSpPr>
          <p:nvPr/>
        </p:nvSpPr>
        <p:spPr>
          <a:xfrm>
            <a:off x="2625039" y="1342069"/>
            <a:ext cx="461991" cy="458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 dirty="0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9B1CBFA-3C57-44D7-A210-05A8D1154BDC}"/>
              </a:ext>
            </a:extLst>
          </p:cNvPr>
          <p:cNvSpPr>
            <a:spLocks noGrp="1"/>
          </p:cNvSpPr>
          <p:nvPr/>
        </p:nvSpPr>
        <p:spPr>
          <a:xfrm>
            <a:off x="3648019" y="4035419"/>
            <a:ext cx="395992" cy="4203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 dirty="0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ED0C2ED-0532-4033-92A3-295E5E831994}"/>
              </a:ext>
            </a:extLst>
          </p:cNvPr>
          <p:cNvSpPr>
            <a:spLocks noGrp="1"/>
          </p:cNvSpPr>
          <p:nvPr/>
        </p:nvSpPr>
        <p:spPr>
          <a:xfrm>
            <a:off x="5495980" y="4035419"/>
            <a:ext cx="395992" cy="4203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 dirty="0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8BA9B452-71E7-458C-B3D0-F276E69B71BC}"/>
              </a:ext>
            </a:extLst>
          </p:cNvPr>
          <p:cNvSpPr>
            <a:spLocks noGrp="1"/>
          </p:cNvSpPr>
          <p:nvPr/>
        </p:nvSpPr>
        <p:spPr>
          <a:xfrm>
            <a:off x="669103" y="1303859"/>
            <a:ext cx="1823940" cy="496727"/>
          </a:xfrm>
          <a:prstGeom prst="roundRect">
            <a:avLst>
              <a:gd name="adj" fmla="val 11731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 dirty="0">
                <a:solidFill>
                  <a:srgbClr val="202124"/>
                </a:solidFill>
              </a:rPr>
              <a:t>RTS paper +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 dirty="0">
                <a:solidFill>
                  <a:srgbClr val="202124"/>
                </a:solidFill>
              </a:rPr>
              <a:t>system description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5143EB30-F4FD-48A5-86D0-8ABEF3FA1757}"/>
              </a:ext>
            </a:extLst>
          </p:cNvPr>
          <p:cNvSpPr>
            <a:spLocks noGrp="1"/>
          </p:cNvSpPr>
          <p:nvPr/>
        </p:nvSpPr>
        <p:spPr>
          <a:xfrm>
            <a:off x="3219028" y="1361172"/>
            <a:ext cx="2969939" cy="382099"/>
          </a:xfrm>
          <a:prstGeom prst="roundRect">
            <a:avLst>
              <a:gd name="adj" fmla="val 10496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 dirty="0">
                <a:solidFill>
                  <a:srgbClr val="202124"/>
                </a:solidFill>
              </a:rPr>
              <a:t>Evidence-linked semantic graph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FB58D7E3-07B7-476E-9C57-2EA5685324F6}"/>
              </a:ext>
            </a:extLst>
          </p:cNvPr>
          <p:cNvSpPr>
            <a:spLocks noGrp="1"/>
          </p:cNvSpPr>
          <p:nvPr/>
        </p:nvSpPr>
        <p:spPr>
          <a:xfrm>
            <a:off x="2460044" y="2316417"/>
            <a:ext cx="1451970" cy="429638"/>
          </a:xfrm>
          <a:prstGeom prst="roundRect">
            <a:avLst>
              <a:gd name="adj" fmla="val 11079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Model view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553C14CE-21E1-433A-8E94-64C3FE248352}"/>
              </a:ext>
            </a:extLst>
          </p:cNvPr>
          <p:cNvSpPr>
            <a:spLocks noGrp="1"/>
          </p:cNvSpPr>
          <p:nvPr/>
        </p:nvSpPr>
        <p:spPr>
          <a:xfrm>
            <a:off x="3978013" y="2316418"/>
            <a:ext cx="1451970" cy="420308"/>
          </a:xfrm>
          <a:prstGeom prst="roundRect">
            <a:avLst>
              <a:gd name="adj" fmla="val 11079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Analysis view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D981AED2-6BB1-4B18-A158-27BCA2FDEEEF}"/>
              </a:ext>
            </a:extLst>
          </p:cNvPr>
          <p:cNvSpPr>
            <a:spLocks noGrp="1"/>
          </p:cNvSpPr>
          <p:nvPr/>
        </p:nvSpPr>
        <p:spPr>
          <a:xfrm>
            <a:off x="5495982" y="2316418"/>
            <a:ext cx="1451970" cy="420308"/>
          </a:xfrm>
          <a:prstGeom prst="roundRect">
            <a:avLst>
              <a:gd name="adj" fmla="val 11079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Proof view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C75DE984-A211-4229-9BC3-B6FDE2613676}"/>
              </a:ext>
            </a:extLst>
          </p:cNvPr>
          <p:cNvSpPr>
            <a:spLocks noGrp="1"/>
          </p:cNvSpPr>
          <p:nvPr/>
        </p:nvSpPr>
        <p:spPr>
          <a:xfrm>
            <a:off x="3384025" y="3159217"/>
            <a:ext cx="2639946" cy="362549"/>
          </a:xfrm>
          <a:prstGeom prst="roundRect">
            <a:avLst>
              <a:gd name="adj" fmla="val 13295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Cross-IR consistency checks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2795CF0B-5F9E-4B23-869B-6405A2DAE9C0}"/>
              </a:ext>
            </a:extLst>
          </p:cNvPr>
          <p:cNvSpPr>
            <a:spLocks noGrp="1"/>
          </p:cNvSpPr>
          <p:nvPr/>
        </p:nvSpPr>
        <p:spPr>
          <a:xfrm>
            <a:off x="4044011" y="3997646"/>
            <a:ext cx="1451970" cy="496727"/>
          </a:xfrm>
          <a:prstGeom prst="roundRect">
            <a:avLst>
              <a:gd name="adj" fmla="val 9971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 dirty="0" err="1">
                <a:solidFill>
                  <a:srgbClr val="202124"/>
                </a:solidFill>
              </a:rPr>
              <a:t>Prosa</a:t>
            </a:r>
            <a:r>
              <a:rPr sz="1125" b="1" dirty="0">
                <a:solidFill>
                  <a:srgbClr val="202124"/>
                </a:solidFill>
              </a:rPr>
              <a:t> grounding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 dirty="0">
                <a:solidFill>
                  <a:srgbClr val="202124"/>
                </a:solidFill>
              </a:rPr>
              <a:t>+ </a:t>
            </a:r>
            <a:r>
              <a:rPr sz="1125" b="1" dirty="0" err="1">
                <a:solidFill>
                  <a:srgbClr val="202124"/>
                </a:solidFill>
              </a:rPr>
              <a:t>Prosa</a:t>
            </a:r>
            <a:r>
              <a:rPr sz="1125" b="1" dirty="0">
                <a:solidFill>
                  <a:srgbClr val="202124"/>
                </a:solidFill>
              </a:rPr>
              <a:t> IR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3CCBA50E-F5CB-4DA9-ABBF-C849821A6876}"/>
              </a:ext>
            </a:extLst>
          </p:cNvPr>
          <p:cNvSpPr>
            <a:spLocks noGrp="1"/>
          </p:cNvSpPr>
          <p:nvPr/>
        </p:nvSpPr>
        <p:spPr>
          <a:xfrm>
            <a:off x="5891974" y="3997646"/>
            <a:ext cx="1649966" cy="496727"/>
          </a:xfrm>
          <a:prstGeom prst="roundRect">
            <a:avLst>
              <a:gd name="adj" fmla="val 9971"/>
            </a:avLst>
          </a:prstGeom>
          <a:solidFill>
            <a:srgbClr val="D9EAD3"/>
          </a:solidFill>
          <a:ln w="13335">
            <a:solidFill>
              <a:srgbClr val="82B366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Rocq generation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and verification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90DFFB6-E3D1-494C-A6E7-A43FB5D676BB}"/>
              </a:ext>
            </a:extLst>
          </p:cNvPr>
          <p:cNvSpPr>
            <a:spLocks noGrp="1"/>
          </p:cNvSpPr>
          <p:nvPr/>
        </p:nvSpPr>
        <p:spPr>
          <a:xfrm>
            <a:off x="1338067" y="4150485"/>
            <a:ext cx="2309953" cy="4967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Diagnostics return to the earliest responsible IR node</a:t>
            </a: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03373157-F67B-87B1-61F3-10E24EB37757}"/>
              </a:ext>
            </a:extLst>
          </p:cNvPr>
          <p:cNvCxnSpPr>
            <a:cxnSpLocks/>
            <a:stCxn id="112" idx="0"/>
            <a:endCxn id="109" idx="2"/>
          </p:cNvCxnSpPr>
          <p:nvPr/>
        </p:nvCxnSpPr>
        <p:spPr>
          <a:xfrm rot="16200000" flipV="1">
            <a:off x="3738433" y="2193651"/>
            <a:ext cx="413162" cy="151796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19981C-38A6-933E-D07A-5E22562A5126}"/>
              </a:ext>
            </a:extLst>
          </p:cNvPr>
          <p:cNvCxnSpPr>
            <a:stCxn id="110" idx="2"/>
            <a:endCxn id="112" idx="0"/>
          </p:cNvCxnSpPr>
          <p:nvPr/>
        </p:nvCxnSpPr>
        <p:spPr>
          <a:xfrm>
            <a:off x="4703998" y="2736726"/>
            <a:ext cx="0" cy="422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E597D211-036B-41D0-9F5B-2133B35B1D0C}"/>
              </a:ext>
            </a:extLst>
          </p:cNvPr>
          <p:cNvCxnSpPr>
            <a:stCxn id="111" idx="2"/>
            <a:endCxn id="112" idx="0"/>
          </p:cNvCxnSpPr>
          <p:nvPr/>
        </p:nvCxnSpPr>
        <p:spPr>
          <a:xfrm rot="5400000">
            <a:off x="5251738" y="2188987"/>
            <a:ext cx="422491" cy="1517969"/>
          </a:xfrm>
          <a:prstGeom prst="bentConnector3">
            <a:avLst>
              <a:gd name="adj1" fmla="val 5188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9AD7CD5A-96E4-44A7-B967-721C8EC76152}"/>
              </a:ext>
            </a:extLst>
          </p:cNvPr>
          <p:cNvCxnSpPr>
            <a:stCxn id="108" idx="2"/>
            <a:endCxn id="109" idx="0"/>
          </p:cNvCxnSpPr>
          <p:nvPr/>
        </p:nvCxnSpPr>
        <p:spPr>
          <a:xfrm rot="5400000">
            <a:off x="3658441" y="1270860"/>
            <a:ext cx="573146" cy="15179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085992B3-CD9E-663C-7E45-000BD5A39B0D}"/>
              </a:ext>
            </a:extLst>
          </p:cNvPr>
          <p:cNvCxnSpPr>
            <a:stCxn id="108" idx="2"/>
            <a:endCxn id="111" idx="0"/>
          </p:cNvCxnSpPr>
          <p:nvPr/>
        </p:nvCxnSpPr>
        <p:spPr>
          <a:xfrm rot="16200000" flipH="1">
            <a:off x="5176409" y="1270859"/>
            <a:ext cx="573147" cy="15179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6FAFCA-B1FE-384E-0065-79821F4BFD4D}"/>
              </a:ext>
            </a:extLst>
          </p:cNvPr>
          <p:cNvCxnSpPr>
            <a:stCxn id="108" idx="2"/>
            <a:endCxn id="110" idx="0"/>
          </p:cNvCxnSpPr>
          <p:nvPr/>
        </p:nvCxnSpPr>
        <p:spPr>
          <a:xfrm>
            <a:off x="4703998" y="1743271"/>
            <a:ext cx="0" cy="573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69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>
            <a:extLst>
              <a:ext uri="{FF2B5EF4-FFF2-40B4-BE49-F238E27FC236}">
                <a16:creationId xmlns:a16="http://schemas.microsoft.com/office/drawing/2014/main" id="{15CE0833-AC8A-4B05-BCF4-FD3CE9A8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Three typed views share one semantic graph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02B4B3-923C-4D5D-8266-0E5301F11F1D}"/>
              </a:ext>
            </a:extLst>
          </p:cNvPr>
          <p:cNvSpPr>
            <a:spLocks noGrp="1"/>
          </p:cNvSpPr>
          <p:nvPr/>
        </p:nvSpPr>
        <p:spPr>
          <a:xfrm>
            <a:off x="3054032" y="2469256"/>
            <a:ext cx="527989" cy="458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←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CE2F446-D010-48CB-A5F7-7602C12C423F}"/>
              </a:ext>
            </a:extLst>
          </p:cNvPr>
          <p:cNvSpPr>
            <a:spLocks noGrp="1"/>
          </p:cNvSpPr>
          <p:nvPr/>
        </p:nvSpPr>
        <p:spPr>
          <a:xfrm>
            <a:off x="5561980" y="2469256"/>
            <a:ext cx="527989" cy="458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623B61D-41F4-4333-ADD5-7CA1C3C25054}"/>
              </a:ext>
            </a:extLst>
          </p:cNvPr>
          <p:cNvSpPr>
            <a:spLocks noGrp="1"/>
          </p:cNvSpPr>
          <p:nvPr/>
        </p:nvSpPr>
        <p:spPr>
          <a:xfrm>
            <a:off x="4308006" y="3309870"/>
            <a:ext cx="527989" cy="458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↓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147AECB8-AED4-49CD-9C6E-60515B6563FC}"/>
              </a:ext>
            </a:extLst>
          </p:cNvPr>
          <p:cNvSpPr>
            <a:spLocks noGrp="1"/>
          </p:cNvSpPr>
          <p:nvPr/>
        </p:nvSpPr>
        <p:spPr>
          <a:xfrm>
            <a:off x="717107" y="2297312"/>
            <a:ext cx="2388510" cy="802404"/>
          </a:xfrm>
          <a:prstGeom prst="roundRect">
            <a:avLst>
              <a:gd name="adj" fmla="val 7386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 dirty="0">
                <a:solidFill>
                  <a:srgbClr val="202124"/>
                </a:solidFill>
              </a:rPr>
              <a:t>MODEL VIEW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 dirty="0">
                <a:solidFill>
                  <a:srgbClr val="202124"/>
                </a:solidFill>
              </a:rPr>
              <a:t>entities • execution semantics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 dirty="0">
                <a:solidFill>
                  <a:srgbClr val="202124"/>
                </a:solidFill>
              </a:rPr>
              <a:t>assumptions • unknowns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DED4BAB1-D2C8-42A5-88D2-D242AC0A3FC8}"/>
              </a:ext>
            </a:extLst>
          </p:cNvPr>
          <p:cNvSpPr>
            <a:spLocks noGrp="1"/>
          </p:cNvSpPr>
          <p:nvPr/>
        </p:nvSpPr>
        <p:spPr>
          <a:xfrm>
            <a:off x="3582021" y="1979875"/>
            <a:ext cx="1979960" cy="1291786"/>
          </a:xfrm>
          <a:prstGeom prst="roundRect">
            <a:avLst>
              <a:gd name="adj" fmla="val 4986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 dirty="0">
                <a:solidFill>
                  <a:srgbClr val="202124"/>
                </a:solidFill>
              </a:rPr>
              <a:t>EVIDENCE-LINKED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 dirty="0">
                <a:solidFill>
                  <a:srgbClr val="202124"/>
                </a:solidFill>
              </a:rPr>
              <a:t>RTS SEMANTIC GRAPH</a:t>
            </a:r>
          </a:p>
          <a:p>
            <a:endParaRPr sz="1125" b="1" dirty="0">
              <a:solidFill>
                <a:srgbClr val="202124"/>
              </a:solidFill>
            </a:endParaRP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 dirty="0">
                <a:solidFill>
                  <a:srgbClr val="202124"/>
                </a:solidFill>
              </a:rPr>
              <a:t>Each node has a type, source span,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 dirty="0">
                <a:solidFill>
                  <a:srgbClr val="202124"/>
                </a:solidFill>
              </a:rPr>
              <a:t>status, and stable identifier.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FC20A577-CA8C-440C-9DE0-BA0131CDD53F}"/>
              </a:ext>
            </a:extLst>
          </p:cNvPr>
          <p:cNvSpPr>
            <a:spLocks noGrp="1"/>
          </p:cNvSpPr>
          <p:nvPr/>
        </p:nvSpPr>
        <p:spPr>
          <a:xfrm>
            <a:off x="6038385" y="2297312"/>
            <a:ext cx="1847962" cy="802404"/>
          </a:xfrm>
          <a:prstGeom prst="roundRect">
            <a:avLst>
              <a:gd name="adj" fmla="val 7386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ANALYSIS VIEW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definitions • domains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operators • criterion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9AC927F3-A2B5-4877-B2D8-BB904B88D766}"/>
              </a:ext>
            </a:extLst>
          </p:cNvPr>
          <p:cNvSpPr>
            <a:spLocks noGrp="1"/>
          </p:cNvSpPr>
          <p:nvPr/>
        </p:nvSpPr>
        <p:spPr>
          <a:xfrm>
            <a:off x="3384025" y="3768387"/>
            <a:ext cx="2375951" cy="878824"/>
          </a:xfrm>
          <a:prstGeom prst="roundRect">
            <a:avLst>
              <a:gd name="adj" fmla="val 8671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PROOF VIEW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claims • dependencies • strategies • obligations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8E745AE-3B61-4B90-ADF5-18E87D3342A6}"/>
              </a:ext>
            </a:extLst>
          </p:cNvPr>
          <p:cNvSpPr>
            <a:spLocks noGrp="1"/>
          </p:cNvSpPr>
          <p:nvPr/>
        </p:nvSpPr>
        <p:spPr>
          <a:xfrm>
            <a:off x="2196049" y="1246544"/>
            <a:ext cx="4751903" cy="3820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5F6368"/>
                </a:solidFill>
              </a:defRPr>
            </a:pPr>
            <a:r>
              <a:rPr sz="1125" b="0">
                <a:solidFill>
                  <a:srgbClr val="5F6368"/>
                </a:solidFill>
              </a:rPr>
              <a:t>The views reference one another; no stage discards earlier semantics.</a:t>
            </a:r>
          </a:p>
        </p:txBody>
      </p:sp>
    </p:spTree>
    <p:extLst>
      <p:ext uri="{BB962C8B-B14F-4D97-AF65-F5344CB8AC3E}">
        <p14:creationId xmlns:p14="http://schemas.microsoft.com/office/powerpoint/2010/main" val="82969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>
            <a:extLst>
              <a:ext uri="{FF2B5EF4-FFF2-40B4-BE49-F238E27FC236}">
                <a16:creationId xmlns:a16="http://schemas.microsoft.com/office/drawing/2014/main" id="{F3066273-4740-42CA-969D-4E9ADFC68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Model IR records only the analyzed system</a:t>
            </a:r>
          </a:p>
        </p:txBody>
      </p:sp>
      <p:sp>
        <p:nvSpPr>
          <p:cNvPr id="114" name="Google Shape;114;p22">
            <a:extLst>
              <a:ext uri="{FF2B5EF4-FFF2-40B4-BE49-F238E27FC236}">
                <a16:creationId xmlns:a16="http://schemas.microsoft.com/office/drawing/2014/main" id="{F98A5360-F45B-45EA-9916-B9340A79433C}"/>
              </a:ext>
            </a:extLst>
          </p:cNvPr>
          <p:cNvSpPr>
            <a:spLocks noGrp="1"/>
          </p:cNvSpPr>
          <p:nvPr/>
        </p:nvSpPr>
        <p:spPr>
          <a:xfrm>
            <a:off x="175166" y="1168788"/>
            <a:ext cx="3469200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2"/>
                </a:solidFill>
              </a:rPr>
              <a:t>Entities • execution semantics • assumptions • unknowns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BD28C5C-E38F-46EA-BE3D-44D202766161}"/>
              </a:ext>
            </a:extLst>
          </p:cNvPr>
          <p:cNvSpPr>
            <a:spLocks noGrp="1"/>
          </p:cNvSpPr>
          <p:nvPr/>
        </p:nvSpPr>
        <p:spPr>
          <a:xfrm>
            <a:off x="1189570" y="2511083"/>
            <a:ext cx="375285" cy="3549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A350E49-CA62-4055-BB0F-0F1034EB50D9}"/>
              </a:ext>
            </a:extLst>
          </p:cNvPr>
          <p:cNvSpPr>
            <a:spLocks noGrp="1"/>
          </p:cNvSpPr>
          <p:nvPr/>
        </p:nvSpPr>
        <p:spPr>
          <a:xfrm>
            <a:off x="2540596" y="2511083"/>
            <a:ext cx="375285" cy="3549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D1E8C4E4-9DD6-4164-BFA5-41AEF4D747F9}"/>
              </a:ext>
            </a:extLst>
          </p:cNvPr>
          <p:cNvSpPr>
            <a:spLocks noGrp="1"/>
          </p:cNvSpPr>
          <p:nvPr/>
        </p:nvSpPr>
        <p:spPr>
          <a:xfrm>
            <a:off x="213829" y="2333632"/>
            <a:ext cx="975741" cy="670370"/>
          </a:xfrm>
          <a:prstGeom prst="roundRect">
            <a:avLst>
              <a:gd name="adj" fmla="val 11367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TASKS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Γ = {τ₁,…,τₙ}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5C046E78-DF29-4A0A-B8A3-8273542F4E7A}"/>
              </a:ext>
            </a:extLst>
          </p:cNvPr>
          <p:cNvSpPr>
            <a:spLocks noGrp="1"/>
          </p:cNvSpPr>
          <p:nvPr/>
        </p:nvSpPr>
        <p:spPr>
          <a:xfrm>
            <a:off x="1519938" y="2353434"/>
            <a:ext cx="1065573" cy="670370"/>
          </a:xfrm>
          <a:prstGeom prst="roundRect">
            <a:avLst>
              <a:gd name="adj" fmla="val 11367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 dirty="0">
                <a:solidFill>
                  <a:srgbClr val="202124"/>
                </a:solidFill>
              </a:rPr>
              <a:t>JOBS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 dirty="0">
                <a:solidFill>
                  <a:srgbClr val="202124"/>
                </a:solidFill>
              </a:rPr>
              <a:t>arrival • cost • deadline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47CF9D7A-E630-4148-8501-C10B0361E7F1}"/>
              </a:ext>
            </a:extLst>
          </p:cNvPr>
          <p:cNvSpPr>
            <a:spLocks noGrp="1"/>
          </p:cNvSpPr>
          <p:nvPr/>
        </p:nvSpPr>
        <p:spPr>
          <a:xfrm>
            <a:off x="2886899" y="2287788"/>
            <a:ext cx="1123382" cy="801491"/>
          </a:xfrm>
          <a:prstGeom prst="roundRect">
            <a:avLst>
              <a:gd name="adj" fmla="val 11367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 dirty="0">
                <a:solidFill>
                  <a:srgbClr val="202124"/>
                </a:solidFill>
              </a:rPr>
              <a:t>SCHEDULE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 dirty="0">
                <a:solidFill>
                  <a:srgbClr val="202124"/>
                </a:solidFill>
              </a:rPr>
              <a:t>processor • policy • preemption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3A1CB4B-7992-4393-B820-E865A97A63C2}"/>
              </a:ext>
            </a:extLst>
          </p:cNvPr>
          <p:cNvSpPr>
            <a:spLocks noGrp="1"/>
          </p:cNvSpPr>
          <p:nvPr/>
        </p:nvSpPr>
        <p:spPr>
          <a:xfrm>
            <a:off x="326414" y="1820997"/>
            <a:ext cx="3452622" cy="3154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6368"/>
                </a:solidFill>
              </a:defRPr>
            </a:pPr>
            <a:r>
              <a:rPr sz="1050" b="0">
                <a:solidFill>
                  <a:srgbClr val="5F6368"/>
                </a:solidFill>
              </a:rPr>
              <a:t>Known facts become fields; missing facts remain unresolved.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3C1574D-DC03-414C-8728-3E057E8A9E27}"/>
              </a:ext>
            </a:extLst>
          </p:cNvPr>
          <p:cNvSpPr>
            <a:spLocks noGrp="1"/>
          </p:cNvSpPr>
          <p:nvPr/>
        </p:nvSpPr>
        <p:spPr>
          <a:xfrm>
            <a:off x="363943" y="3240603"/>
            <a:ext cx="3377565" cy="2760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5F6368"/>
                </a:solidFill>
              </a:defRPr>
            </a:pPr>
            <a:r>
              <a:rPr sz="975" b="0">
                <a:solidFill>
                  <a:srgbClr val="5F6368"/>
                </a:solidFill>
              </a:rPr>
              <a:t>Source spans justify every populated field.</a:t>
            </a:r>
          </a:p>
        </p:txBody>
      </p:sp>
      <p:sp>
        <p:nvSpPr>
          <p:cNvPr id="122" name="model-ir-schema">
            <a:extLst>
              <a:ext uri="{FF2B5EF4-FFF2-40B4-BE49-F238E27FC236}">
                <a16:creationId xmlns:a16="http://schemas.microsoft.com/office/drawing/2014/main" id="{ACE3253F-88F9-4CE4-928A-60CBCA5C687C}"/>
              </a:ext>
            </a:extLst>
          </p:cNvPr>
          <p:cNvSpPr>
            <a:spLocks noGrp="1"/>
          </p:cNvSpPr>
          <p:nvPr/>
        </p:nvSpPr>
        <p:spPr>
          <a:xfrm>
            <a:off x="4177075" y="1120400"/>
            <a:ext cx="3862750" cy="3692051"/>
          </a:xfrm>
          <a:prstGeom prst="rect">
            <a:avLst/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 err="1">
                <a:solidFill>
                  <a:srgbClr val="202124"/>
                </a:solidFill>
              </a:rPr>
              <a:t>ModelIR</a:t>
            </a:r>
            <a:r>
              <a:rPr sz="923" b="0" dirty="0">
                <a:solidFill>
                  <a:srgbClr val="202124"/>
                </a:solidFill>
              </a:rPr>
              <a:t>:</a:t>
            </a: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entities: [task, job, processor, schedule]</a:t>
            </a:r>
          </a:p>
          <a:p>
            <a:endParaRPr sz="923" b="0" dirty="0">
              <a:solidFill>
                <a:srgbClr val="202124"/>
              </a:solidFill>
            </a:endParaRP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workload:</a:t>
            </a: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  tasks: </a:t>
            </a:r>
            <a:r>
              <a:rPr sz="923" b="0" dirty="0" err="1">
                <a:solidFill>
                  <a:srgbClr val="202124"/>
                </a:solidFill>
              </a:rPr>
              <a:t>Γ</a:t>
            </a:r>
            <a:r>
              <a:rPr sz="923" b="0" dirty="0">
                <a:solidFill>
                  <a:srgbClr val="202124"/>
                </a:solidFill>
              </a:rPr>
              <a:t> = {</a:t>
            </a:r>
            <a:r>
              <a:rPr sz="923" b="0" dirty="0" err="1">
                <a:solidFill>
                  <a:srgbClr val="202124"/>
                </a:solidFill>
              </a:rPr>
              <a:t>τ</a:t>
            </a:r>
            <a:r>
              <a:rPr sz="923" b="0" dirty="0">
                <a:solidFill>
                  <a:srgbClr val="202124"/>
                </a:solidFill>
              </a:rPr>
              <a:t>₁, …, </a:t>
            </a:r>
            <a:r>
              <a:rPr sz="923" b="0" dirty="0" err="1">
                <a:solidFill>
                  <a:srgbClr val="202124"/>
                </a:solidFill>
              </a:rPr>
              <a:t>τ</a:t>
            </a:r>
            <a:r>
              <a:rPr sz="923" b="0" dirty="0">
                <a:solidFill>
                  <a:srgbClr val="202124"/>
                </a:solidFill>
              </a:rPr>
              <a:t>ₙ}</a:t>
            </a: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  </a:t>
            </a:r>
            <a:r>
              <a:rPr sz="923" b="0" dirty="0" err="1">
                <a:solidFill>
                  <a:srgbClr val="202124"/>
                </a:solidFill>
              </a:rPr>
              <a:t>cost_model</a:t>
            </a:r>
            <a:r>
              <a:rPr sz="923" b="0" dirty="0">
                <a:solidFill>
                  <a:srgbClr val="202124"/>
                </a:solidFill>
              </a:rPr>
              <a:t>: </a:t>
            </a:r>
            <a:r>
              <a:rPr sz="923" b="0" dirty="0" err="1">
                <a:solidFill>
                  <a:srgbClr val="202124"/>
                </a:solidFill>
              </a:rPr>
              <a:t>random_variable</a:t>
            </a:r>
            <a:endParaRPr sz="923" b="0" dirty="0">
              <a:solidFill>
                <a:srgbClr val="202124"/>
              </a:solidFill>
            </a:endParaRP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  </a:t>
            </a:r>
            <a:r>
              <a:rPr sz="923" b="0" dirty="0" err="1">
                <a:solidFill>
                  <a:srgbClr val="202124"/>
                </a:solidFill>
              </a:rPr>
              <a:t>interarrival_model</a:t>
            </a:r>
            <a:r>
              <a:rPr sz="923" b="0" dirty="0">
                <a:solidFill>
                  <a:srgbClr val="202124"/>
                </a:solidFill>
              </a:rPr>
              <a:t>: </a:t>
            </a:r>
            <a:r>
              <a:rPr sz="923" b="0" dirty="0" err="1">
                <a:solidFill>
                  <a:srgbClr val="202124"/>
                </a:solidFill>
              </a:rPr>
              <a:t>random_variable</a:t>
            </a:r>
            <a:endParaRPr sz="923" b="0" dirty="0">
              <a:solidFill>
                <a:srgbClr val="202124"/>
              </a:solidFill>
            </a:endParaRP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  deadline: relative</a:t>
            </a:r>
          </a:p>
          <a:p>
            <a:endParaRPr sz="923" b="0" dirty="0">
              <a:solidFill>
                <a:srgbClr val="202124"/>
              </a:solidFill>
            </a:endParaRP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platform:</a:t>
            </a: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  processors: 1</a:t>
            </a: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  </a:t>
            </a:r>
            <a:r>
              <a:rPr sz="923" b="0" dirty="0" err="1">
                <a:solidFill>
                  <a:srgbClr val="202124"/>
                </a:solidFill>
              </a:rPr>
              <a:t>scheduling_policy</a:t>
            </a:r>
            <a:r>
              <a:rPr sz="923" b="0" dirty="0">
                <a:solidFill>
                  <a:srgbClr val="202124"/>
                </a:solidFill>
              </a:rPr>
              <a:t>: EDF</a:t>
            </a: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  preemption: </a:t>
            </a:r>
            <a:r>
              <a:rPr sz="923" b="0" dirty="0" err="1">
                <a:solidFill>
                  <a:srgbClr val="202124"/>
                </a:solidFill>
              </a:rPr>
              <a:t>fully_preemptive</a:t>
            </a:r>
            <a:endParaRPr sz="923" b="0" dirty="0">
              <a:solidFill>
                <a:srgbClr val="202124"/>
              </a:solidFill>
            </a:endParaRPr>
          </a:p>
          <a:p>
            <a:endParaRPr sz="923" b="0" dirty="0">
              <a:solidFill>
                <a:srgbClr val="202124"/>
              </a:solidFill>
            </a:endParaRP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assumptions:</a:t>
            </a: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  - </a:t>
            </a:r>
            <a:r>
              <a:rPr sz="923" b="0" dirty="0" err="1">
                <a:solidFill>
                  <a:srgbClr val="202124"/>
                </a:solidFill>
              </a:rPr>
              <a:t>constrained_deadlines</a:t>
            </a:r>
            <a:endParaRPr sz="923" b="0" dirty="0">
              <a:solidFill>
                <a:srgbClr val="202124"/>
              </a:solidFill>
            </a:endParaRPr>
          </a:p>
          <a:p>
            <a:endParaRPr sz="923" b="0" dirty="0">
              <a:solidFill>
                <a:srgbClr val="202124"/>
              </a:solidFill>
            </a:endParaRP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unresolved:</a:t>
            </a: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  - </a:t>
            </a:r>
            <a:r>
              <a:rPr sz="923" b="0" dirty="0" err="1">
                <a:solidFill>
                  <a:srgbClr val="202124"/>
                </a:solidFill>
              </a:rPr>
              <a:t>independence_scope</a:t>
            </a:r>
            <a:endParaRPr sz="923" b="0" dirty="0">
              <a:solidFill>
                <a:srgbClr val="202124"/>
              </a:solidFill>
            </a:endParaRP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  - </a:t>
            </a:r>
            <a:r>
              <a:rPr sz="923" b="0" dirty="0" err="1">
                <a:solidFill>
                  <a:srgbClr val="202124"/>
                </a:solidFill>
              </a:rPr>
              <a:t>service_semantics</a:t>
            </a:r>
            <a:endParaRPr sz="923" b="0" dirty="0">
              <a:solidFill>
                <a:srgbClr val="202124"/>
              </a:solidFill>
            </a:endParaRPr>
          </a:p>
          <a:p>
            <a:endParaRPr sz="923" b="0" dirty="0">
              <a:solidFill>
                <a:srgbClr val="202124"/>
              </a:solidFill>
            </a:endParaRPr>
          </a:p>
          <a:p>
            <a:pPr algn="l">
              <a:defRPr sz="923" b="0">
                <a:solidFill>
                  <a:srgbClr val="202124"/>
                </a:solidFill>
              </a:defRPr>
            </a:pPr>
            <a:r>
              <a:rPr sz="923" b="0" dirty="0">
                <a:solidFill>
                  <a:srgbClr val="202124"/>
                </a:solidFill>
              </a:rPr>
              <a:t>  evidence: [§2.1, §2.2]</a:t>
            </a:r>
          </a:p>
        </p:txBody>
      </p:sp>
    </p:spTree>
    <p:extLst>
      <p:ext uri="{BB962C8B-B14F-4D97-AF65-F5344CB8AC3E}">
        <p14:creationId xmlns:p14="http://schemas.microsoft.com/office/powerpoint/2010/main" val="1450187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>
            <a:extLst>
              <a:ext uri="{FF2B5EF4-FFF2-40B4-BE49-F238E27FC236}">
                <a16:creationId xmlns:a16="http://schemas.microsoft.com/office/drawing/2014/main" id="{54443896-5065-4005-9BB3-E1D68564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Analysis IR defines the mathematical machinery</a:t>
            </a:r>
          </a:p>
        </p:txBody>
      </p:sp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37B589D1-0984-4328-A6B5-F37A66841670}"/>
              </a:ext>
            </a:extLst>
          </p:cNvPr>
          <p:cNvSpPr>
            <a:spLocks noGrp="1"/>
          </p:cNvSpPr>
          <p:nvPr/>
        </p:nvSpPr>
        <p:spPr>
          <a:xfrm>
            <a:off x="175178" y="1168800"/>
            <a:ext cx="48739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2"/>
                </a:solidFill>
              </a:rPr>
              <a:t>Definitions • operators • domains • criterion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A54AF60-8721-45B9-9571-5F28B01D37FC}"/>
              </a:ext>
            </a:extLst>
          </p:cNvPr>
          <p:cNvSpPr>
            <a:spLocks noGrp="1"/>
          </p:cNvSpPr>
          <p:nvPr/>
        </p:nvSpPr>
        <p:spPr>
          <a:xfrm>
            <a:off x="2003975" y="2293630"/>
            <a:ext cx="457200" cy="4480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↘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EC3729A-2FAD-4E3B-9D14-0DA6C2E50B32}"/>
              </a:ext>
            </a:extLst>
          </p:cNvPr>
          <p:cNvSpPr>
            <a:spLocks noGrp="1"/>
          </p:cNvSpPr>
          <p:nvPr/>
        </p:nvSpPr>
        <p:spPr>
          <a:xfrm>
            <a:off x="2552615" y="2293630"/>
            <a:ext cx="457200" cy="4480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↙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7B95CB5-6178-4835-8A56-0A6F3C615F87}"/>
              </a:ext>
            </a:extLst>
          </p:cNvPr>
          <p:cNvSpPr>
            <a:spLocks noGrp="1"/>
          </p:cNvSpPr>
          <p:nvPr/>
        </p:nvSpPr>
        <p:spPr>
          <a:xfrm>
            <a:off x="2232575" y="3445774"/>
            <a:ext cx="457200" cy="4480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↓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71EF9942-C981-4968-AC8F-A3CA9151D95C}"/>
              </a:ext>
            </a:extLst>
          </p:cNvPr>
          <p:cNvSpPr>
            <a:spLocks noGrp="1"/>
          </p:cNvSpPr>
          <p:nvPr/>
        </p:nvSpPr>
        <p:spPr>
          <a:xfrm>
            <a:off x="129455" y="1892289"/>
            <a:ext cx="1920240" cy="864108"/>
          </a:xfrm>
          <a:prstGeom prst="roundRect">
            <a:avLst>
              <a:gd name="adj" fmla="val 8818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 dirty="0">
                <a:solidFill>
                  <a:srgbClr val="202124"/>
                </a:solidFill>
              </a:rPr>
              <a:t>REQUEST BOUND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 dirty="0">
                <a:solidFill>
                  <a:srgbClr val="202124"/>
                </a:solidFill>
              </a:rPr>
              <a:t>⟨αᵢ(</a:t>
            </a:r>
            <a:r>
              <a:rPr sz="1050" b="1" dirty="0" err="1">
                <a:solidFill>
                  <a:srgbClr val="202124"/>
                </a:solidFill>
              </a:rPr>
              <a:t>Δ,x</a:t>
            </a:r>
            <a:r>
              <a:rPr sz="1050" b="1" dirty="0">
                <a:solidFill>
                  <a:srgbClr val="202124"/>
                </a:solidFill>
              </a:rPr>
              <a:t>), Fᵢ(x)⟩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 dirty="0">
                <a:solidFill>
                  <a:srgbClr val="202124"/>
                </a:solidFill>
              </a:rPr>
              <a:t>what jobs may demand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0755F1E5-ACF5-498E-8814-C4869EB3A270}"/>
              </a:ext>
            </a:extLst>
          </p:cNvPr>
          <p:cNvSpPr>
            <a:spLocks noGrp="1"/>
          </p:cNvSpPr>
          <p:nvPr/>
        </p:nvSpPr>
        <p:spPr>
          <a:xfrm>
            <a:off x="2964095" y="1884288"/>
            <a:ext cx="1920240" cy="864108"/>
          </a:xfrm>
          <a:prstGeom prst="roundRect">
            <a:avLst>
              <a:gd name="adj" fmla="val 8818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SERVICE BOUND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⟨β(Δ,x), G(x)⟩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what the processor supplies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7DCFA45F-3D22-44ED-9C26-107E97755B02}"/>
              </a:ext>
            </a:extLst>
          </p:cNvPr>
          <p:cNvSpPr>
            <a:spLocks noGrp="1"/>
          </p:cNvSpPr>
          <p:nvPr/>
        </p:nvSpPr>
        <p:spPr>
          <a:xfrm>
            <a:off x="1318175" y="2933710"/>
            <a:ext cx="2286000" cy="576072"/>
          </a:xfrm>
          <a:prstGeom prst="roundRect">
            <a:avLst>
              <a:gd name="adj" fmla="val 13228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COMPOSE + COMPARE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aggregate demand ≤ supply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B49FBD1D-C43F-4E57-8A25-E863181AAF6F}"/>
              </a:ext>
            </a:extLst>
          </p:cNvPr>
          <p:cNvSpPr>
            <a:spLocks noGrp="1"/>
          </p:cNvSpPr>
          <p:nvPr/>
        </p:nvSpPr>
        <p:spPr>
          <a:xfrm>
            <a:off x="815255" y="3925834"/>
            <a:ext cx="3291840" cy="768096"/>
          </a:xfrm>
          <a:prstGeom prst="roundRect">
            <a:avLst>
              <a:gd name="adj" fmla="val 9921"/>
            </a:avLst>
          </a:prstGeom>
          <a:solidFill>
            <a:srgbClr val="D9EAD3"/>
          </a:solidFill>
          <a:ln w="13335">
            <a:solidFill>
              <a:srgbClr val="82B366"/>
            </a:solidFill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202124"/>
                </a:solidFill>
              </a:defRPr>
            </a:pPr>
            <a:r>
              <a:rPr sz="1013" b="1">
                <a:solidFill>
                  <a:srgbClr val="202124"/>
                </a:solidFill>
              </a:rPr>
              <a:t>p-EDF criterion</a:t>
            </a:r>
          </a:p>
          <a:p>
            <a:pPr algn="ctr">
              <a:defRPr sz="1013" b="1">
                <a:solidFill>
                  <a:srgbClr val="202124"/>
                </a:solidFill>
              </a:defRPr>
            </a:pPr>
            <a:r>
              <a:rPr sz="1013" b="1">
                <a:solidFill>
                  <a:srgbClr val="202124"/>
                </a:solidFill>
              </a:rPr>
              <a:t>∀Δ, ∃x₁,x₂: ᾱ(Δ,x₁) ≤ β(Δ,x₂)</a:t>
            </a:r>
          </a:p>
          <a:p>
            <a:pPr algn="ctr">
              <a:defRPr sz="1013" b="1">
                <a:solidFill>
                  <a:srgbClr val="202124"/>
                </a:solidFill>
              </a:defRPr>
            </a:pPr>
            <a:r>
              <a:rPr sz="1013" b="1">
                <a:solidFill>
                  <a:srgbClr val="202124"/>
                </a:solidFill>
              </a:rPr>
              <a:t>and probability lower bound ≥ p</a:t>
            </a:r>
          </a:p>
        </p:txBody>
      </p:sp>
      <p:sp>
        <p:nvSpPr>
          <p:cNvPr id="132" name="analysis-ir-schema">
            <a:extLst>
              <a:ext uri="{FF2B5EF4-FFF2-40B4-BE49-F238E27FC236}">
                <a16:creationId xmlns:a16="http://schemas.microsoft.com/office/drawing/2014/main" id="{62FC1036-9193-4804-88F9-62286302ABCF}"/>
              </a:ext>
            </a:extLst>
          </p:cNvPr>
          <p:cNvSpPr>
            <a:spLocks noGrp="1"/>
          </p:cNvSpPr>
          <p:nvPr/>
        </p:nvSpPr>
        <p:spPr>
          <a:xfrm>
            <a:off x="4948077" y="1404700"/>
            <a:ext cx="3844400" cy="3577275"/>
          </a:xfrm>
          <a:prstGeom prst="rect">
            <a:avLst/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AnalysisIR: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definitions: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request_bound: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  value: αᵢ(Δ, x)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  event: demandᵢ(Δ) ≤ αᵢ(Δ,x)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  probability_lb: Fᵢ(x)</a:t>
            </a:r>
          </a:p>
          <a:p>
            <a:endParaRPr sz="915" b="0">
              <a:solidFill>
                <a:srgbClr val="202124"/>
              </a:solidFill>
            </a:endParaRP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service_bound: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  value: β(Δ, x)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  event: supply(Δ) ≥ β(Δ,x)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  probability_lb: G(x)</a:t>
            </a:r>
          </a:p>
          <a:p>
            <a:endParaRPr sz="915" b="0">
              <a:solidFill>
                <a:srgbClr val="202124"/>
              </a:solidFill>
            </a:endParaRP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operators: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aggregate_demand: compose(request_bounds)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comparison: demand ≤ supply</a:t>
            </a:r>
          </a:p>
          <a:p>
            <a:endParaRPr sz="915" b="0">
              <a:solidFill>
                <a:srgbClr val="202124"/>
              </a:solidFill>
            </a:endParaRP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criterion: p_edf_test(Γ, β, p)</a:t>
            </a:r>
          </a:p>
          <a:p>
            <a:endParaRPr sz="915" b="0">
              <a:solidFill>
                <a:srgbClr val="202124"/>
              </a:solidFill>
            </a:endParaRP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unresolved: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- composition_operator</a:t>
            </a:r>
          </a:p>
          <a:p>
            <a:pPr algn="l">
              <a:defRPr sz="915" b="0">
                <a:solidFill>
                  <a:srgbClr val="202124"/>
                </a:solidFill>
              </a:defRPr>
            </a:pPr>
            <a:r>
              <a:rPr sz="915" b="0">
                <a:solidFill>
                  <a:srgbClr val="202124"/>
                </a:solidFill>
              </a:rPr>
              <a:t>    - probability_event_scope</a:t>
            </a:r>
          </a:p>
        </p:txBody>
      </p:sp>
    </p:spTree>
    <p:extLst>
      <p:ext uri="{BB962C8B-B14F-4D97-AF65-F5344CB8AC3E}">
        <p14:creationId xmlns:p14="http://schemas.microsoft.com/office/powerpoint/2010/main" val="18101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>
            <a:extLst>
              <a:ext uri="{FF2B5EF4-FFF2-40B4-BE49-F238E27FC236}">
                <a16:creationId xmlns:a16="http://schemas.microsoft.com/office/drawing/2014/main" id="{9F5DC3D1-9B48-458E-AC26-CDC16740D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Proof IR makes the argument executable</a:t>
            </a:r>
          </a:p>
        </p:txBody>
      </p:sp>
      <p:sp>
        <p:nvSpPr>
          <p:cNvPr id="138" name="Google Shape;138;p25">
            <a:extLst>
              <a:ext uri="{FF2B5EF4-FFF2-40B4-BE49-F238E27FC236}">
                <a16:creationId xmlns:a16="http://schemas.microsoft.com/office/drawing/2014/main" id="{DC0597E9-ADB9-45F0-80EF-63BE73B9891B}"/>
              </a:ext>
            </a:extLst>
          </p:cNvPr>
          <p:cNvSpPr>
            <a:spLocks noGrp="1"/>
          </p:cNvSpPr>
          <p:nvPr/>
        </p:nvSpPr>
        <p:spPr>
          <a:xfrm>
            <a:off x="417143" y="1155104"/>
            <a:ext cx="591577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>
                <a:solidFill>
                  <a:schemeClr val="dk2"/>
                </a:solidFill>
              </a:rPr>
              <a:t>Claims • dependencies • strategies • open obligations</a:t>
            </a:r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FE441AC5-2D25-4029-AE74-C7303E1AC4DF}"/>
              </a:ext>
            </a:extLst>
          </p:cNvPr>
          <p:cNvSpPr>
            <a:spLocks noGrp="1"/>
          </p:cNvSpPr>
          <p:nvPr/>
        </p:nvSpPr>
        <p:spPr>
          <a:xfrm>
            <a:off x="642941" y="2061095"/>
            <a:ext cx="1096613" cy="607695"/>
          </a:xfrm>
          <a:prstGeom prst="roundRect">
            <a:avLst>
              <a:gd name="adj" fmla="val 12539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O1</a:t>
            </a:r>
          </a:p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Demand bound</a:t>
            </a: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86EE88C4-6CBE-4293-9DCE-307CA4DDF5DF}"/>
              </a:ext>
            </a:extLst>
          </p:cNvPr>
          <p:cNvSpPr>
            <a:spLocks noGrp="1"/>
          </p:cNvSpPr>
          <p:nvPr/>
        </p:nvSpPr>
        <p:spPr>
          <a:xfrm>
            <a:off x="1947533" y="2061095"/>
            <a:ext cx="1096613" cy="607695"/>
          </a:xfrm>
          <a:prstGeom prst="roundRect">
            <a:avLst>
              <a:gd name="adj" fmla="val 12539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O2</a:t>
            </a:r>
          </a:p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Service bound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7E13D471-9611-41A3-8A13-905ECB3126CD}"/>
              </a:ext>
            </a:extLst>
          </p:cNvPr>
          <p:cNvSpPr>
            <a:spLocks noGrp="1"/>
          </p:cNvSpPr>
          <p:nvPr/>
        </p:nvSpPr>
        <p:spPr>
          <a:xfrm>
            <a:off x="3252124" y="2061095"/>
            <a:ext cx="1096613" cy="607695"/>
          </a:xfrm>
          <a:prstGeom prst="roundRect">
            <a:avLst>
              <a:gd name="adj" fmla="val 12539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O3</a:t>
            </a:r>
          </a:p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Probability rule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49B37D20-F64B-4A15-A8F5-EA5A52281695}"/>
              </a:ext>
            </a:extLst>
          </p:cNvPr>
          <p:cNvSpPr>
            <a:spLocks noGrp="1"/>
          </p:cNvSpPr>
          <p:nvPr/>
        </p:nvSpPr>
        <p:spPr>
          <a:xfrm>
            <a:off x="1437041" y="3027883"/>
            <a:ext cx="2117598" cy="635318"/>
          </a:xfrm>
          <a:prstGeom prst="roundRect">
            <a:avLst>
              <a:gd name="adj" fmla="val 11994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O4</a:t>
            </a:r>
          </a:p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Demand ≤ supply ⇒ no deadline miss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0905517F-3AA0-4A07-925C-EF2F2E336306}"/>
              </a:ext>
            </a:extLst>
          </p:cNvPr>
          <p:cNvSpPr>
            <a:spLocks noGrp="1"/>
          </p:cNvSpPr>
          <p:nvPr/>
        </p:nvSpPr>
        <p:spPr>
          <a:xfrm>
            <a:off x="1172341" y="4049915"/>
            <a:ext cx="2646998" cy="607695"/>
          </a:xfrm>
          <a:prstGeom prst="roundRect">
            <a:avLst>
              <a:gd name="adj" fmla="val 12539"/>
            </a:avLst>
          </a:prstGeom>
          <a:solidFill>
            <a:srgbClr val="D9EAD3"/>
          </a:solidFill>
          <a:ln w="13335">
            <a:solidFill>
              <a:srgbClr val="82B366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THEOREM</a:t>
            </a:r>
          </a:p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p-EDF test ⇒ Pr[schedulable] ≥ p</a:t>
            </a:r>
          </a:p>
        </p:txBody>
      </p:sp>
      <p:sp>
        <p:nvSpPr>
          <p:cNvPr id="148" name="proof-ir-schema">
            <a:extLst>
              <a:ext uri="{FF2B5EF4-FFF2-40B4-BE49-F238E27FC236}">
                <a16:creationId xmlns:a16="http://schemas.microsoft.com/office/drawing/2014/main" id="{A72EA9FD-2E10-4366-95F0-5BA40D39EFB5}"/>
              </a:ext>
            </a:extLst>
          </p:cNvPr>
          <p:cNvSpPr>
            <a:spLocks noGrp="1"/>
          </p:cNvSpPr>
          <p:nvPr/>
        </p:nvSpPr>
        <p:spPr>
          <a:xfrm>
            <a:off x="5589363" y="1017725"/>
            <a:ext cx="3137494" cy="3754454"/>
          </a:xfrm>
          <a:prstGeom prst="rect">
            <a:avLst/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ProofIR: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goal: schedulable_at_level(Γ, EDF, p)</a:t>
            </a:r>
          </a:p>
          <a:p>
            <a:endParaRPr sz="825" b="0">
              <a:solidFill>
                <a:srgbClr val="202124"/>
              </a:solidFill>
            </a:endParaRP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strategy: reduction_to_demand_supply</a:t>
            </a:r>
          </a:p>
          <a:p>
            <a:endParaRPr sz="825" b="0">
              <a:solidFill>
                <a:srgbClr val="202124"/>
              </a:solidFill>
            </a:endParaRP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obligations: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O1: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  claim: aggregate demand is bounded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  depends_on: [request_bounds]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  status: open</a:t>
            </a:r>
          </a:p>
          <a:p>
            <a:endParaRPr sz="825" b="0">
              <a:solidFill>
                <a:srgbClr val="202124"/>
              </a:solidFill>
            </a:endParaRP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O2: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  claim: service is lower-bounded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  depends_on: [service_model]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  status: mapped</a:t>
            </a:r>
          </a:p>
          <a:p>
            <a:endParaRPr sz="825" b="0">
              <a:solidFill>
                <a:srgbClr val="202124"/>
              </a:solidFill>
            </a:endParaRP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O3: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  claim: probability composition is valid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  depends_on: [independence_scope]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  status: unresolved</a:t>
            </a:r>
          </a:p>
          <a:p>
            <a:endParaRPr sz="825" b="0">
              <a:solidFill>
                <a:srgbClr val="202124"/>
              </a:solidFill>
            </a:endParaRP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O4: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  claim: demand ≤ supply implies no miss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  depends_on: [O1, O2]</a:t>
            </a:r>
          </a:p>
          <a:p>
            <a:endParaRPr sz="825" b="0">
              <a:solidFill>
                <a:srgbClr val="202124"/>
              </a:solidFill>
            </a:endParaRP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conclusion: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  depends_on: [O3, O4]</a:t>
            </a:r>
          </a:p>
          <a:p>
            <a:pPr algn="l">
              <a:defRPr sz="825" b="0">
                <a:solidFill>
                  <a:srgbClr val="202124"/>
                </a:solidFill>
              </a:defRPr>
            </a:pPr>
            <a:r>
              <a:rPr sz="825" b="0">
                <a:solidFill>
                  <a:srgbClr val="202124"/>
                </a:solidFill>
              </a:rPr>
              <a:t>  evidence: Theorem 8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A810F72-7D07-02FC-86D2-7F361F32627C}"/>
              </a:ext>
            </a:extLst>
          </p:cNvPr>
          <p:cNvCxnSpPr>
            <a:stCxn id="143" idx="2"/>
            <a:endCxn id="146" idx="0"/>
          </p:cNvCxnSpPr>
          <p:nvPr/>
        </p:nvCxnSpPr>
        <p:spPr>
          <a:xfrm>
            <a:off x="1191248" y="2668790"/>
            <a:ext cx="1304592" cy="35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B5EAFB-8347-F37F-87F5-661AD291D350}"/>
              </a:ext>
            </a:extLst>
          </p:cNvPr>
          <p:cNvCxnSpPr>
            <a:stCxn id="144" idx="2"/>
            <a:endCxn id="146" idx="0"/>
          </p:cNvCxnSpPr>
          <p:nvPr/>
        </p:nvCxnSpPr>
        <p:spPr>
          <a:xfrm>
            <a:off x="2495840" y="2668790"/>
            <a:ext cx="0" cy="35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D694E3-9975-10D5-C4A7-87BBBAA4CA57}"/>
              </a:ext>
            </a:extLst>
          </p:cNvPr>
          <p:cNvCxnSpPr>
            <a:stCxn id="145" idx="2"/>
            <a:endCxn id="146" idx="0"/>
          </p:cNvCxnSpPr>
          <p:nvPr/>
        </p:nvCxnSpPr>
        <p:spPr>
          <a:xfrm flipH="1">
            <a:off x="2495840" y="2668790"/>
            <a:ext cx="1304591" cy="359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054E20-6D16-64DA-54A8-B19B0EC1229E}"/>
              </a:ext>
            </a:extLst>
          </p:cNvPr>
          <p:cNvCxnSpPr>
            <a:stCxn id="146" idx="2"/>
            <a:endCxn id="147" idx="0"/>
          </p:cNvCxnSpPr>
          <p:nvPr/>
        </p:nvCxnSpPr>
        <p:spPr>
          <a:xfrm>
            <a:off x="2495840" y="3663201"/>
            <a:ext cx="0" cy="386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453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>
            <a:extLst>
              <a:ext uri="{FF2B5EF4-FFF2-40B4-BE49-F238E27FC236}">
                <a16:creationId xmlns:a16="http://schemas.microsoft.com/office/drawing/2014/main" id="{BA9F10F0-4649-4194-BE5F-F3433BBB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Cross-IR checks catch errors before code generation</a:t>
            </a: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D65AA904-9DA2-4122-B200-C8AE82490B51}"/>
              </a:ext>
            </a:extLst>
          </p:cNvPr>
          <p:cNvSpPr>
            <a:spLocks noGrp="1"/>
          </p:cNvSpPr>
          <p:nvPr/>
        </p:nvSpPr>
        <p:spPr>
          <a:xfrm>
            <a:off x="1439186" y="1258519"/>
            <a:ext cx="1938379" cy="362569"/>
          </a:xfrm>
          <a:prstGeom prst="roundRect">
            <a:avLst>
              <a:gd name="adj" fmla="val 21017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 dirty="0">
                <a:solidFill>
                  <a:srgbClr val="202124"/>
                </a:solidFill>
              </a:rPr>
              <a:t>SYMBOL + DOMAIN</a:t>
            </a: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5DF27BE9-983B-44E6-AD5D-104F73BAB3AA}"/>
              </a:ext>
            </a:extLst>
          </p:cNvPr>
          <p:cNvSpPr>
            <a:spLocks noGrp="1"/>
          </p:cNvSpPr>
          <p:nvPr/>
        </p:nvSpPr>
        <p:spPr>
          <a:xfrm>
            <a:off x="3486150" y="1258519"/>
            <a:ext cx="4218662" cy="362569"/>
          </a:xfrm>
          <a:prstGeom prst="roundRect">
            <a:avLst>
              <a:gd name="adj" fmla="val 21017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Every symbol has one type, unit, scope, and definition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F5519B4E-85F4-44DB-B062-55C3E9663758}"/>
              </a:ext>
            </a:extLst>
          </p:cNvPr>
          <p:cNvSpPr>
            <a:spLocks noGrp="1"/>
          </p:cNvSpPr>
          <p:nvPr/>
        </p:nvSpPr>
        <p:spPr>
          <a:xfrm>
            <a:off x="1439186" y="1715671"/>
            <a:ext cx="1938379" cy="362569"/>
          </a:xfrm>
          <a:prstGeom prst="roundRect">
            <a:avLst>
              <a:gd name="adj" fmla="val 21017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MODEL ↔ ANALYSIS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1413390B-B033-4735-A253-A0C973E78B9C}"/>
              </a:ext>
            </a:extLst>
          </p:cNvPr>
          <p:cNvSpPr>
            <a:spLocks noGrp="1"/>
          </p:cNvSpPr>
          <p:nvPr/>
        </p:nvSpPr>
        <p:spPr>
          <a:xfrm>
            <a:off x="3486150" y="1715671"/>
            <a:ext cx="4218662" cy="362569"/>
          </a:xfrm>
          <a:prstGeom prst="roundRect">
            <a:avLst>
              <a:gd name="adj" fmla="val 21017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 dirty="0">
                <a:solidFill>
                  <a:srgbClr val="202124"/>
                </a:solidFill>
              </a:rPr>
              <a:t>The selected policy, processor, and workload satisfy analysis premises</a:t>
            </a: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6945C190-F829-4AAA-A315-D5841E42C1C8}"/>
              </a:ext>
            </a:extLst>
          </p:cNvPr>
          <p:cNvSpPr>
            <a:spLocks noGrp="1"/>
          </p:cNvSpPr>
          <p:nvPr/>
        </p:nvSpPr>
        <p:spPr>
          <a:xfrm>
            <a:off x="1439186" y="2172823"/>
            <a:ext cx="1938379" cy="362569"/>
          </a:xfrm>
          <a:prstGeom prst="roundRect">
            <a:avLst>
              <a:gd name="adj" fmla="val 21017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ANALYSIS ↔ PROOF</a:t>
            </a: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798A8EEE-7119-4723-9F9C-B2C1CD1C5314}"/>
              </a:ext>
            </a:extLst>
          </p:cNvPr>
          <p:cNvSpPr>
            <a:spLocks noGrp="1"/>
          </p:cNvSpPr>
          <p:nvPr/>
        </p:nvSpPr>
        <p:spPr>
          <a:xfrm>
            <a:off x="3486149" y="2172823"/>
            <a:ext cx="4218663" cy="362569"/>
          </a:xfrm>
          <a:prstGeom prst="roundRect">
            <a:avLst>
              <a:gd name="adj" fmla="val 21017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Every proof premise resolves to a definition or explicit obligation</a:t>
            </a: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2D2E4967-6036-4A3C-A941-CB3203421A96}"/>
              </a:ext>
            </a:extLst>
          </p:cNvPr>
          <p:cNvSpPr>
            <a:spLocks noGrp="1"/>
          </p:cNvSpPr>
          <p:nvPr/>
        </p:nvSpPr>
        <p:spPr>
          <a:xfrm>
            <a:off x="1439186" y="2629976"/>
            <a:ext cx="1938379" cy="362569"/>
          </a:xfrm>
          <a:prstGeom prst="roundRect">
            <a:avLst>
              <a:gd name="adj" fmla="val 21017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PROBABILITY</a:t>
            </a: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D094F1E8-9D28-4F58-927B-7E281D039D17}"/>
              </a:ext>
            </a:extLst>
          </p:cNvPr>
          <p:cNvSpPr>
            <a:spLocks noGrp="1"/>
          </p:cNvSpPr>
          <p:nvPr/>
        </p:nvSpPr>
        <p:spPr>
          <a:xfrm>
            <a:off x="3486150" y="2629976"/>
            <a:ext cx="4218664" cy="362569"/>
          </a:xfrm>
          <a:prstGeom prst="roundRect">
            <a:avLst>
              <a:gd name="adj" fmla="val 21017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 dirty="0">
                <a:solidFill>
                  <a:srgbClr val="202124"/>
                </a:solidFill>
              </a:rPr>
              <a:t>Events, dependence assumptions, and composition rules are explicit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1259BB93-25E0-4ED2-9878-44114D3CDEE9}"/>
              </a:ext>
            </a:extLst>
          </p:cNvPr>
          <p:cNvSpPr>
            <a:spLocks noGrp="1"/>
          </p:cNvSpPr>
          <p:nvPr/>
        </p:nvSpPr>
        <p:spPr>
          <a:xfrm>
            <a:off x="1439188" y="3087128"/>
            <a:ext cx="1938377" cy="362569"/>
          </a:xfrm>
          <a:prstGeom prst="roundRect">
            <a:avLst>
              <a:gd name="adj" fmla="val 21017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SOURCE FAITHFULNESS</a:t>
            </a: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CB1F9AA9-63A1-492C-AFED-D9EF1D6D471F}"/>
              </a:ext>
            </a:extLst>
          </p:cNvPr>
          <p:cNvSpPr>
            <a:spLocks noGrp="1"/>
          </p:cNvSpPr>
          <p:nvPr/>
        </p:nvSpPr>
        <p:spPr>
          <a:xfrm>
            <a:off x="3486150" y="3087128"/>
            <a:ext cx="4218662" cy="362569"/>
          </a:xfrm>
          <a:prstGeom prst="roundRect">
            <a:avLst>
              <a:gd name="adj" fmla="val 21017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 dirty="0">
                <a:solidFill>
                  <a:srgbClr val="202124"/>
                </a:solidFill>
              </a:rPr>
              <a:t>Each assumption has evidence or remains marked unresolved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A99AC69A-8F84-467C-B564-D99C05FA170F}"/>
              </a:ext>
            </a:extLst>
          </p:cNvPr>
          <p:cNvSpPr>
            <a:spLocks noGrp="1"/>
          </p:cNvSpPr>
          <p:nvPr/>
        </p:nvSpPr>
        <p:spPr>
          <a:xfrm>
            <a:off x="2780348" y="3654628"/>
            <a:ext cx="977265" cy="441389"/>
          </a:xfrm>
          <a:prstGeom prst="roundRect">
            <a:avLst>
              <a:gd name="adj" fmla="val 17264"/>
            </a:avLst>
          </a:prstGeom>
          <a:solidFill>
            <a:srgbClr val="D9EAD3"/>
          </a:solidFill>
          <a:ln w="13335">
            <a:solidFill>
              <a:srgbClr val="82B366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PASS</a:t>
            </a:r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879D3312-E4BC-4C46-85E3-3475273F5895}"/>
              </a:ext>
            </a:extLst>
          </p:cNvPr>
          <p:cNvSpPr>
            <a:spLocks noGrp="1"/>
          </p:cNvSpPr>
          <p:nvPr/>
        </p:nvSpPr>
        <p:spPr>
          <a:xfrm>
            <a:off x="4083368" y="3654628"/>
            <a:ext cx="1194435" cy="441389"/>
          </a:xfrm>
          <a:prstGeom prst="roundRect">
            <a:avLst>
              <a:gd name="adj" fmla="val 17264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UNRESOLVED</a:t>
            </a: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617A54F2-9B59-4CB8-81BA-8881AAAFAA73}"/>
              </a:ext>
            </a:extLst>
          </p:cNvPr>
          <p:cNvSpPr>
            <a:spLocks noGrp="1"/>
          </p:cNvSpPr>
          <p:nvPr/>
        </p:nvSpPr>
        <p:spPr>
          <a:xfrm>
            <a:off x="5603558" y="3654628"/>
            <a:ext cx="977265" cy="441389"/>
          </a:xfrm>
          <a:prstGeom prst="roundRect">
            <a:avLst>
              <a:gd name="adj" fmla="val 17264"/>
            </a:avLst>
          </a:prstGeom>
          <a:solidFill>
            <a:srgbClr val="F4CCCC"/>
          </a:solidFill>
          <a:ln w="13335">
            <a:solidFill>
              <a:srgbClr val="B85450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CONFLICT</a:t>
            </a:r>
          </a:p>
        </p:txBody>
      </p:sp>
    </p:spTree>
    <p:extLst>
      <p:ext uri="{BB962C8B-B14F-4D97-AF65-F5344CB8AC3E}">
        <p14:creationId xmlns:p14="http://schemas.microsoft.com/office/powerpoint/2010/main" val="1243386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>
            <a:extLst>
              <a:ext uri="{FF2B5EF4-FFF2-40B4-BE49-F238E27FC236}">
                <a16:creationId xmlns:a16="http://schemas.microsoft.com/office/drawing/2014/main" id="{15CE0833-AC8A-4B05-BCF4-FD3CE9A8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Retrieval proposes; contracts establish compatibility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3291AD5-F391-4376-8D7E-C99EC15567C6}"/>
              </a:ext>
            </a:extLst>
          </p:cNvPr>
          <p:cNvSpPr>
            <a:spLocks noGrp="1"/>
          </p:cNvSpPr>
          <p:nvPr/>
        </p:nvSpPr>
        <p:spPr>
          <a:xfrm>
            <a:off x="2592041" y="2087159"/>
            <a:ext cx="329993" cy="458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E58F498-BA4D-483E-AAD1-0C318442BB9B}"/>
              </a:ext>
            </a:extLst>
          </p:cNvPr>
          <p:cNvSpPr>
            <a:spLocks noGrp="1"/>
          </p:cNvSpPr>
          <p:nvPr/>
        </p:nvSpPr>
        <p:spPr>
          <a:xfrm>
            <a:off x="4044011" y="2087159"/>
            <a:ext cx="329993" cy="458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7924749-143C-4247-B044-B7EF9967E41F}"/>
              </a:ext>
            </a:extLst>
          </p:cNvPr>
          <p:cNvSpPr>
            <a:spLocks noGrp="1"/>
          </p:cNvSpPr>
          <p:nvPr/>
        </p:nvSpPr>
        <p:spPr>
          <a:xfrm>
            <a:off x="5495982" y="2087159"/>
            <a:ext cx="329993" cy="458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073109E-0ECC-41B7-8D57-10ADB2469FB6}"/>
              </a:ext>
            </a:extLst>
          </p:cNvPr>
          <p:cNvSpPr>
            <a:spLocks noGrp="1"/>
          </p:cNvSpPr>
          <p:nvPr/>
        </p:nvSpPr>
        <p:spPr>
          <a:xfrm>
            <a:off x="6815955" y="2087159"/>
            <a:ext cx="329993" cy="458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603858E-84FD-4A1E-A9AC-D2ED50CC120D}"/>
              </a:ext>
            </a:extLst>
          </p:cNvPr>
          <p:cNvSpPr>
            <a:spLocks noGrp="1"/>
          </p:cNvSpPr>
          <p:nvPr/>
        </p:nvSpPr>
        <p:spPr>
          <a:xfrm>
            <a:off x="1272068" y="1896110"/>
            <a:ext cx="1319973" cy="840614"/>
          </a:xfrm>
          <a:prstGeom prst="roundRect">
            <a:avLst>
              <a:gd name="adj" fmla="val 9065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SEMANTIC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REQUIREMENT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751F2934-8598-4DC0-9925-C741B9263D9A}"/>
              </a:ext>
            </a:extLst>
          </p:cNvPr>
          <p:cNvSpPr>
            <a:spLocks noGrp="1"/>
          </p:cNvSpPr>
          <p:nvPr/>
        </p:nvSpPr>
        <p:spPr>
          <a:xfrm>
            <a:off x="2922034" y="1781481"/>
            <a:ext cx="1121977" cy="1069873"/>
          </a:xfrm>
          <a:prstGeom prst="roundRect">
            <a:avLst>
              <a:gd name="adj" fmla="val 7122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60" b="1">
                <a:solidFill>
                  <a:srgbClr val="202124"/>
                </a:solidFill>
              </a:defRPr>
            </a:pPr>
            <a:r>
              <a:rPr sz="960" b="1">
                <a:solidFill>
                  <a:srgbClr val="202124"/>
                </a:solidFill>
              </a:rPr>
              <a:t>CANDIDATE</a:t>
            </a:r>
          </a:p>
          <a:p>
            <a:pPr algn="ctr">
              <a:defRPr sz="960" b="1">
                <a:solidFill>
                  <a:srgbClr val="202124"/>
                </a:solidFill>
              </a:defRPr>
            </a:pPr>
            <a:r>
              <a:rPr sz="960" b="1">
                <a:solidFill>
                  <a:srgbClr val="202124"/>
                </a:solidFill>
              </a:rPr>
              <a:t>RETRIEVAL</a:t>
            </a:r>
          </a:p>
          <a:p>
            <a:pPr algn="ctr">
              <a:defRPr sz="960" b="1">
                <a:solidFill>
                  <a:srgbClr val="202124"/>
                </a:solidFill>
              </a:defRPr>
            </a:pPr>
            <a:r>
              <a:rPr sz="960" b="1">
                <a:solidFill>
                  <a:srgbClr val="202124"/>
                </a:solidFill>
              </a:rPr>
              <a:t>string • embedding • AST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E858E7D8-3F19-4352-8820-397293C4D0A5}"/>
              </a:ext>
            </a:extLst>
          </p:cNvPr>
          <p:cNvSpPr>
            <a:spLocks noGrp="1"/>
          </p:cNvSpPr>
          <p:nvPr/>
        </p:nvSpPr>
        <p:spPr>
          <a:xfrm>
            <a:off x="4374005" y="1705061"/>
            <a:ext cx="1121977" cy="1222712"/>
          </a:xfrm>
          <a:prstGeom prst="roundRect">
            <a:avLst>
              <a:gd name="adj" fmla="val 6792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60" b="1">
                <a:solidFill>
                  <a:srgbClr val="202124"/>
                </a:solidFill>
              </a:defRPr>
            </a:pPr>
            <a:r>
              <a:rPr sz="960" b="1">
                <a:solidFill>
                  <a:srgbClr val="202124"/>
                </a:solidFill>
              </a:rPr>
              <a:t>TYPED CONTRACT</a:t>
            </a:r>
          </a:p>
          <a:p>
            <a:pPr algn="ctr">
              <a:defRPr sz="960" b="1">
                <a:solidFill>
                  <a:srgbClr val="202124"/>
                </a:solidFill>
              </a:defRPr>
            </a:pPr>
            <a:r>
              <a:rPr sz="960" b="1">
                <a:solidFill>
                  <a:srgbClr val="202124"/>
                </a:solidFill>
              </a:rPr>
              <a:t>CHECK</a:t>
            </a:r>
          </a:p>
          <a:p>
            <a:pPr algn="ctr">
              <a:defRPr sz="960" b="1">
                <a:solidFill>
                  <a:srgbClr val="202124"/>
                </a:solidFill>
              </a:defRPr>
            </a:pPr>
            <a:r>
              <a:rPr sz="960" b="1">
                <a:solidFill>
                  <a:srgbClr val="202124"/>
                </a:solidFill>
              </a:rPr>
              <a:t>parameters • premises • semantics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F73CD870-0A76-45F7-88BC-EC949522A34C}"/>
              </a:ext>
            </a:extLst>
          </p:cNvPr>
          <p:cNvSpPr>
            <a:spLocks noGrp="1"/>
          </p:cNvSpPr>
          <p:nvPr/>
        </p:nvSpPr>
        <p:spPr>
          <a:xfrm>
            <a:off x="5825975" y="1781481"/>
            <a:ext cx="989980" cy="1069873"/>
          </a:xfrm>
          <a:prstGeom prst="roundRect">
            <a:avLst>
              <a:gd name="adj" fmla="val 7697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960" b="1">
                <a:solidFill>
                  <a:srgbClr val="202124"/>
                </a:solidFill>
              </a:defRPr>
            </a:pPr>
            <a:r>
              <a:rPr sz="960" b="1">
                <a:solidFill>
                  <a:srgbClr val="202124"/>
                </a:solidFill>
              </a:rPr>
              <a:t>BRIDGE</a:t>
            </a:r>
          </a:p>
          <a:p>
            <a:pPr algn="ctr">
              <a:defRPr sz="960" b="1">
                <a:solidFill>
                  <a:srgbClr val="202124"/>
                </a:solidFill>
              </a:defRPr>
            </a:pPr>
            <a:r>
              <a:rPr sz="960" b="1">
                <a:solidFill>
                  <a:srgbClr val="202124"/>
                </a:solidFill>
              </a:rPr>
              <a:t>PROOF</a:t>
            </a:r>
          </a:p>
          <a:p>
            <a:pPr algn="ctr">
              <a:defRPr sz="960" b="1">
                <a:solidFill>
                  <a:srgbClr val="202124"/>
                </a:solidFill>
              </a:defRPr>
            </a:pPr>
            <a:r>
              <a:rPr sz="960" b="1">
                <a:solidFill>
                  <a:srgbClr val="202124"/>
                </a:solidFill>
              </a:rPr>
              <a:t>prove relation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8DF8B928-9642-441B-AD1A-C89E45062013}"/>
              </a:ext>
            </a:extLst>
          </p:cNvPr>
          <p:cNvSpPr>
            <a:spLocks noGrp="1"/>
          </p:cNvSpPr>
          <p:nvPr/>
        </p:nvSpPr>
        <p:spPr>
          <a:xfrm>
            <a:off x="7145948" y="1896110"/>
            <a:ext cx="725985" cy="840614"/>
          </a:xfrm>
          <a:prstGeom prst="roundRect">
            <a:avLst>
              <a:gd name="adj" fmla="val 10496"/>
            </a:avLst>
          </a:prstGeom>
          <a:solidFill>
            <a:srgbClr val="D9EAD3"/>
          </a:solidFill>
          <a:ln w="13335">
            <a:solidFill>
              <a:srgbClr val="82B366"/>
            </a:solidFill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202124"/>
                </a:solidFill>
              </a:defRPr>
            </a:pPr>
            <a:r>
              <a:rPr sz="938" b="1">
                <a:solidFill>
                  <a:srgbClr val="202124"/>
                </a:solidFill>
              </a:rPr>
              <a:t>PROSA IR</a:t>
            </a:r>
          </a:p>
          <a:p>
            <a:pPr algn="ctr">
              <a:defRPr sz="938" b="1">
                <a:solidFill>
                  <a:srgbClr val="202124"/>
                </a:solidFill>
              </a:defRPr>
            </a:pPr>
            <a:r>
              <a:rPr sz="938" b="1">
                <a:solidFill>
                  <a:srgbClr val="202124"/>
                </a:solidFill>
              </a:rPr>
              <a:t>STATUS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D31F0835-3CE7-47FF-AA45-121F80BBF40B}"/>
              </a:ext>
            </a:extLst>
          </p:cNvPr>
          <p:cNvSpPr>
            <a:spLocks noGrp="1"/>
          </p:cNvSpPr>
          <p:nvPr/>
        </p:nvSpPr>
        <p:spPr>
          <a:xfrm>
            <a:off x="1602061" y="3386290"/>
            <a:ext cx="2837942" cy="534936"/>
          </a:xfrm>
          <a:prstGeom prst="roundRect">
            <a:avLst>
              <a:gd name="adj" fmla="val 14245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202124"/>
                </a:solidFill>
              </a:defRPr>
            </a:pPr>
            <a:r>
              <a:rPr sz="1013" b="1">
                <a:solidFill>
                  <a:srgbClr val="202124"/>
                </a:solidFill>
              </a:rPr>
              <a:t>LLM: extract requirements, retrieve and rank candidates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63A6FFDA-DB25-45BF-B6E3-F4B19BAF8C09}"/>
              </a:ext>
            </a:extLst>
          </p:cNvPr>
          <p:cNvSpPr>
            <a:spLocks noGrp="1"/>
          </p:cNvSpPr>
          <p:nvPr/>
        </p:nvSpPr>
        <p:spPr>
          <a:xfrm>
            <a:off x="4703998" y="3386290"/>
            <a:ext cx="2837942" cy="534936"/>
          </a:xfrm>
          <a:prstGeom prst="roundRect">
            <a:avLst>
              <a:gd name="adj" fmla="val 14245"/>
            </a:avLst>
          </a:prstGeom>
          <a:solidFill>
            <a:srgbClr val="D9EAD3"/>
          </a:solidFill>
          <a:ln w="13335">
            <a:solidFill>
              <a:srgbClr val="82B366"/>
            </a:solidFill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202124"/>
                </a:solidFill>
              </a:defRPr>
            </a:pPr>
            <a:r>
              <a:rPr sz="1013" b="1">
                <a:solidFill>
                  <a:srgbClr val="202124"/>
                </a:solidFill>
              </a:rPr>
              <a:t>Deterministic checks + Rocq: establish compatibility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DBEA1A6-C2CB-48AF-9DBC-559CEA6E912A}"/>
              </a:ext>
            </a:extLst>
          </p:cNvPr>
          <p:cNvSpPr>
            <a:spLocks noGrp="1"/>
          </p:cNvSpPr>
          <p:nvPr/>
        </p:nvSpPr>
        <p:spPr>
          <a:xfrm>
            <a:off x="2262048" y="4303324"/>
            <a:ext cx="4619906" cy="3820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B85450"/>
                </a:solidFill>
              </a:defRPr>
            </a:pPr>
            <a:r>
              <a:rPr sz="1050" b="1">
                <a:solidFill>
                  <a:srgbClr val="B85450"/>
                </a:solidFill>
              </a:rPr>
              <a:t>Semantic similarity is evidence for search—not evidence of equivalence.</a:t>
            </a:r>
          </a:p>
        </p:txBody>
      </p:sp>
    </p:spTree>
    <p:extLst>
      <p:ext uri="{BB962C8B-B14F-4D97-AF65-F5344CB8AC3E}">
        <p14:creationId xmlns:p14="http://schemas.microsoft.com/office/powerpoint/2010/main" val="829691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>
            <a:extLst>
              <a:ext uri="{FF2B5EF4-FFF2-40B4-BE49-F238E27FC236}">
                <a16:creationId xmlns:a16="http://schemas.microsoft.com/office/drawing/2014/main" id="{BA9F10F0-4649-4194-BE5F-F3433BBB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Matching yields six explicit outcomes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A3037687-5823-45A8-A2D8-AB4EDC633D37}"/>
              </a:ext>
            </a:extLst>
          </p:cNvPr>
          <p:cNvSpPr>
            <a:spLocks noGrp="1"/>
          </p:cNvSpPr>
          <p:nvPr/>
        </p:nvSpPr>
        <p:spPr>
          <a:xfrm>
            <a:off x="1911668" y="1195463"/>
            <a:ext cx="1628775" cy="252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Outcome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4FAA7525-25C3-4324-AE65-EA983CA9B989}"/>
              </a:ext>
            </a:extLst>
          </p:cNvPr>
          <p:cNvSpPr>
            <a:spLocks noGrp="1"/>
          </p:cNvSpPr>
          <p:nvPr/>
        </p:nvSpPr>
        <p:spPr>
          <a:xfrm>
            <a:off x="3649028" y="1195463"/>
            <a:ext cx="2063115" cy="252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Meaning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A0448B4-22EB-41EE-A01F-EC789792BBD0}"/>
              </a:ext>
            </a:extLst>
          </p:cNvPr>
          <p:cNvSpPr>
            <a:spLocks noGrp="1"/>
          </p:cNvSpPr>
          <p:nvPr/>
        </p:nvSpPr>
        <p:spPr>
          <a:xfrm>
            <a:off x="5820727" y="1195463"/>
            <a:ext cx="1411605" cy="2522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F6368"/>
                </a:solidFill>
              </a:defRPr>
            </a:pPr>
            <a:r>
              <a:rPr sz="975" b="1">
                <a:solidFill>
                  <a:srgbClr val="5F6368"/>
                </a:solidFill>
              </a:rPr>
              <a:t>Next action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2D5084AF-63E4-4041-BA22-70EB8CF6B109}"/>
              </a:ext>
            </a:extLst>
          </p:cNvPr>
          <p:cNvSpPr>
            <a:spLocks noGrp="1"/>
          </p:cNvSpPr>
          <p:nvPr/>
        </p:nvSpPr>
        <p:spPr>
          <a:xfrm>
            <a:off x="1911668" y="1510741"/>
            <a:ext cx="1628775" cy="362569"/>
          </a:xfrm>
          <a:prstGeom prst="roundRect">
            <a:avLst>
              <a:gd name="adj" fmla="val 21017"/>
            </a:avLst>
          </a:prstGeom>
          <a:solidFill>
            <a:srgbClr val="D9EAD3"/>
          </a:solidFill>
          <a:ln w="13335">
            <a:solidFill>
              <a:srgbClr val="82B366"/>
            </a:solidFill>
            <a:prstDash val="solid"/>
          </a:ln>
        </p:spPr>
        <p:txBody>
          <a:bodyPr/>
          <a:lstStyle/>
          <a:p>
            <a:pPr algn="ctr">
              <a:defRPr sz="885" b="1">
                <a:solidFill>
                  <a:srgbClr val="202124"/>
                </a:solidFill>
              </a:defRPr>
            </a:pPr>
            <a:r>
              <a:rPr sz="885" b="1">
                <a:solidFill>
                  <a:srgbClr val="202124"/>
                </a:solidFill>
              </a:rPr>
              <a:t>DIRECT INSTANTIATION</a:t>
            </a: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3FEF20BB-846F-41ED-9D7D-13DF618CE428}"/>
              </a:ext>
            </a:extLst>
          </p:cNvPr>
          <p:cNvSpPr>
            <a:spLocks noGrp="1"/>
          </p:cNvSpPr>
          <p:nvPr/>
        </p:nvSpPr>
        <p:spPr>
          <a:xfrm>
            <a:off x="3649028" y="1510741"/>
            <a:ext cx="2063115" cy="362569"/>
          </a:xfrm>
          <a:prstGeom prst="roundRect">
            <a:avLst>
              <a:gd name="adj" fmla="val 21017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Existing construct; compatible contracts</a:t>
            </a: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31C4677B-D3A5-4CC2-AA17-80E84DE801E3}"/>
              </a:ext>
            </a:extLst>
          </p:cNvPr>
          <p:cNvSpPr>
            <a:spLocks noGrp="1"/>
          </p:cNvSpPr>
          <p:nvPr/>
        </p:nvSpPr>
        <p:spPr>
          <a:xfrm>
            <a:off x="5820727" y="1510741"/>
            <a:ext cx="1411605" cy="362569"/>
          </a:xfrm>
          <a:prstGeom prst="roundRect">
            <a:avLst>
              <a:gd name="adj" fmla="val 21017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Bind and instantiate</a:t>
            </a: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E8A20457-9764-49C7-A3AF-378D7BBFC6B3}"/>
              </a:ext>
            </a:extLst>
          </p:cNvPr>
          <p:cNvSpPr>
            <a:spLocks noGrp="1"/>
          </p:cNvSpPr>
          <p:nvPr/>
        </p:nvSpPr>
        <p:spPr>
          <a:xfrm>
            <a:off x="1911668" y="1967893"/>
            <a:ext cx="1628775" cy="362569"/>
          </a:xfrm>
          <a:prstGeom prst="roundRect">
            <a:avLst>
              <a:gd name="adj" fmla="val 21017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885" b="1">
                <a:solidFill>
                  <a:srgbClr val="202124"/>
                </a:solidFill>
              </a:defRPr>
            </a:pPr>
            <a:r>
              <a:rPr sz="885" b="1">
                <a:solidFill>
                  <a:srgbClr val="202124"/>
                </a:solidFill>
              </a:rPr>
              <a:t>REFINEMENT / ADAPTER</a:t>
            </a: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FFEDCADF-8A68-4234-A602-148FB74A0CBE}"/>
              </a:ext>
            </a:extLst>
          </p:cNvPr>
          <p:cNvSpPr>
            <a:spLocks noGrp="1"/>
          </p:cNvSpPr>
          <p:nvPr/>
        </p:nvSpPr>
        <p:spPr>
          <a:xfrm>
            <a:off x="3649028" y="1967893"/>
            <a:ext cx="2063115" cy="362569"/>
          </a:xfrm>
          <a:prstGeom prst="roundRect">
            <a:avLst>
              <a:gd name="adj" fmla="val 21017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Concepts differ but have a provable relation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A1269728-27F8-4EC9-B206-A4FA92C173F5}"/>
              </a:ext>
            </a:extLst>
          </p:cNvPr>
          <p:cNvSpPr>
            <a:spLocks noGrp="1"/>
          </p:cNvSpPr>
          <p:nvPr/>
        </p:nvSpPr>
        <p:spPr>
          <a:xfrm>
            <a:off x="5820727" y="1967893"/>
            <a:ext cx="1411605" cy="362569"/>
          </a:xfrm>
          <a:prstGeom prst="roundRect">
            <a:avLst>
              <a:gd name="adj" fmla="val 21017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Generate bridge lemma</a:t>
            </a: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6CF881F8-3DB9-4EAF-AB65-40B9D3A772A3}"/>
              </a:ext>
            </a:extLst>
          </p:cNvPr>
          <p:cNvSpPr>
            <a:spLocks noGrp="1"/>
          </p:cNvSpPr>
          <p:nvPr/>
        </p:nvSpPr>
        <p:spPr>
          <a:xfrm>
            <a:off x="1911668" y="2425045"/>
            <a:ext cx="1628775" cy="362569"/>
          </a:xfrm>
          <a:prstGeom prst="roundRect">
            <a:avLst>
              <a:gd name="adj" fmla="val 21017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885" b="1">
                <a:solidFill>
                  <a:srgbClr val="202124"/>
                </a:solidFill>
              </a:defRPr>
            </a:pPr>
            <a:r>
              <a:rPr sz="885" b="1">
                <a:solidFill>
                  <a:srgbClr val="202124"/>
                </a:solidFill>
              </a:rPr>
              <a:t>COMPOSITION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3270DDEC-CA04-4102-8598-6EEC17044966}"/>
              </a:ext>
            </a:extLst>
          </p:cNvPr>
          <p:cNvSpPr>
            <a:spLocks noGrp="1"/>
          </p:cNvSpPr>
          <p:nvPr/>
        </p:nvSpPr>
        <p:spPr>
          <a:xfrm>
            <a:off x="3649028" y="2425045"/>
            <a:ext cx="2063115" cy="362569"/>
          </a:xfrm>
          <a:prstGeom prst="roundRect">
            <a:avLst>
              <a:gd name="adj" fmla="val 21017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Several constructs jointly realize the requirement</a:t>
            </a:r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F9F1C671-43D3-4303-9852-DB592977EFE3}"/>
              </a:ext>
            </a:extLst>
          </p:cNvPr>
          <p:cNvSpPr>
            <a:spLocks noGrp="1"/>
          </p:cNvSpPr>
          <p:nvPr/>
        </p:nvSpPr>
        <p:spPr>
          <a:xfrm>
            <a:off x="5820727" y="2425045"/>
            <a:ext cx="1411605" cy="362569"/>
          </a:xfrm>
          <a:prstGeom prst="roundRect">
            <a:avLst>
              <a:gd name="adj" fmla="val 21017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Compose and discharge premises</a:t>
            </a: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C8E0C986-B110-43A0-926B-E37883646C33}"/>
              </a:ext>
            </a:extLst>
          </p:cNvPr>
          <p:cNvSpPr>
            <a:spLocks noGrp="1"/>
          </p:cNvSpPr>
          <p:nvPr/>
        </p:nvSpPr>
        <p:spPr>
          <a:xfrm>
            <a:off x="1911668" y="2882198"/>
            <a:ext cx="1628775" cy="362569"/>
          </a:xfrm>
          <a:prstGeom prst="roundRect">
            <a:avLst>
              <a:gd name="adj" fmla="val 21017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885" b="1">
                <a:solidFill>
                  <a:srgbClr val="202124"/>
                </a:solidFill>
              </a:defRPr>
            </a:pPr>
            <a:r>
              <a:rPr sz="885" b="1">
                <a:solidFill>
                  <a:srgbClr val="202124"/>
                </a:solidFill>
              </a:rPr>
              <a:t>EXTENSION REQUIRED</a:t>
            </a: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5F07E3F6-C14F-4AFD-9601-01A5237D998A}"/>
              </a:ext>
            </a:extLst>
          </p:cNvPr>
          <p:cNvSpPr>
            <a:spLocks noGrp="1"/>
          </p:cNvSpPr>
          <p:nvPr/>
        </p:nvSpPr>
        <p:spPr>
          <a:xfrm>
            <a:off x="3649028" y="2882198"/>
            <a:ext cx="2063115" cy="362569"/>
          </a:xfrm>
          <a:prstGeom prst="roundRect">
            <a:avLst>
              <a:gd name="adj" fmla="val 21017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Semantics are clear; construct is absent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D505B8AB-FA3E-496A-BEF3-5DC460933421}"/>
              </a:ext>
            </a:extLst>
          </p:cNvPr>
          <p:cNvSpPr>
            <a:spLocks noGrp="1"/>
          </p:cNvSpPr>
          <p:nvPr/>
        </p:nvSpPr>
        <p:spPr>
          <a:xfrm>
            <a:off x="5820727" y="2882198"/>
            <a:ext cx="1411605" cy="362569"/>
          </a:xfrm>
          <a:prstGeom prst="roundRect">
            <a:avLst>
              <a:gd name="adj" fmla="val 21017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Add definitions and proofs</a:t>
            </a: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03C687D9-857B-4A67-8075-71324C36BF80}"/>
              </a:ext>
            </a:extLst>
          </p:cNvPr>
          <p:cNvSpPr>
            <a:spLocks noGrp="1"/>
          </p:cNvSpPr>
          <p:nvPr/>
        </p:nvSpPr>
        <p:spPr>
          <a:xfrm>
            <a:off x="1911668" y="3339350"/>
            <a:ext cx="1628775" cy="362569"/>
          </a:xfrm>
          <a:prstGeom prst="roundRect">
            <a:avLst>
              <a:gd name="adj" fmla="val 21017"/>
            </a:avLst>
          </a:prstGeom>
          <a:solidFill>
            <a:srgbClr val="F4CCCC"/>
          </a:solidFill>
          <a:ln w="13335">
            <a:solidFill>
              <a:srgbClr val="B85450"/>
            </a:solidFill>
            <a:prstDash val="solid"/>
          </a:ln>
        </p:spPr>
        <p:txBody>
          <a:bodyPr/>
          <a:lstStyle/>
          <a:p>
            <a:pPr algn="ctr">
              <a:defRPr sz="885" b="1">
                <a:solidFill>
                  <a:srgbClr val="202124"/>
                </a:solidFill>
              </a:defRPr>
            </a:pPr>
            <a:r>
              <a:rPr sz="885" b="1">
                <a:solidFill>
                  <a:srgbClr val="202124"/>
                </a:solidFill>
              </a:rPr>
              <a:t>CONFLICT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44603B1A-AA7C-4827-A244-0FB3B0325B12}"/>
              </a:ext>
            </a:extLst>
          </p:cNvPr>
          <p:cNvSpPr>
            <a:spLocks noGrp="1"/>
          </p:cNvSpPr>
          <p:nvPr/>
        </p:nvSpPr>
        <p:spPr>
          <a:xfrm>
            <a:off x="3649028" y="3339350"/>
            <a:ext cx="2063115" cy="362569"/>
          </a:xfrm>
          <a:prstGeom prst="roundRect">
            <a:avLst>
              <a:gd name="adj" fmla="val 21017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Selected assumptions or constructs are incompatible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8BD6B747-F802-44A9-924E-EF52E55E04F1}"/>
              </a:ext>
            </a:extLst>
          </p:cNvPr>
          <p:cNvSpPr>
            <a:spLocks noGrp="1"/>
          </p:cNvSpPr>
          <p:nvPr/>
        </p:nvSpPr>
        <p:spPr>
          <a:xfrm>
            <a:off x="5820727" y="3339350"/>
            <a:ext cx="1411605" cy="362569"/>
          </a:xfrm>
          <a:prstGeom prst="roundRect">
            <a:avLst>
              <a:gd name="adj" fmla="val 21017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Backtrack to an earlier IR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777AA159-5195-4037-86AD-B8841FFFFA7D}"/>
              </a:ext>
            </a:extLst>
          </p:cNvPr>
          <p:cNvSpPr>
            <a:spLocks noGrp="1"/>
          </p:cNvSpPr>
          <p:nvPr/>
        </p:nvSpPr>
        <p:spPr>
          <a:xfrm>
            <a:off x="1911668" y="3796502"/>
            <a:ext cx="1628775" cy="362569"/>
          </a:xfrm>
          <a:prstGeom prst="roundRect">
            <a:avLst>
              <a:gd name="adj" fmla="val 21017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885" b="1">
                <a:solidFill>
                  <a:srgbClr val="202124"/>
                </a:solidFill>
              </a:defRPr>
            </a:pPr>
            <a:r>
              <a:rPr sz="885" b="1">
                <a:solidFill>
                  <a:srgbClr val="202124"/>
                </a:solidFill>
              </a:rPr>
              <a:t>UNDERSPECIFIED</a:t>
            </a:r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00A5460B-2B08-46DB-B1CE-FFBDDD495E0B}"/>
              </a:ext>
            </a:extLst>
          </p:cNvPr>
          <p:cNvSpPr>
            <a:spLocks noGrp="1"/>
          </p:cNvSpPr>
          <p:nvPr/>
        </p:nvSpPr>
        <p:spPr>
          <a:xfrm>
            <a:off x="3649028" y="3796502"/>
            <a:ext cx="2063115" cy="362569"/>
          </a:xfrm>
          <a:prstGeom prst="roundRect">
            <a:avLst>
              <a:gd name="adj" fmla="val 21017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The paper does not determine the semantics</a:t>
            </a: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4294FF39-714A-48AF-82A6-9A01A9A15C3A}"/>
              </a:ext>
            </a:extLst>
          </p:cNvPr>
          <p:cNvSpPr>
            <a:spLocks noGrp="1"/>
          </p:cNvSpPr>
          <p:nvPr/>
        </p:nvSpPr>
        <p:spPr>
          <a:xfrm>
            <a:off x="5820727" y="3796502"/>
            <a:ext cx="1411605" cy="362569"/>
          </a:xfrm>
          <a:prstGeom prst="roundRect">
            <a:avLst>
              <a:gd name="adj" fmla="val 21017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885" b="0">
                <a:solidFill>
                  <a:srgbClr val="202124"/>
                </a:solidFill>
              </a:defRPr>
            </a:pPr>
            <a:r>
              <a:rPr sz="885" b="0">
                <a:solidFill>
                  <a:srgbClr val="202124"/>
                </a:solidFill>
              </a:rPr>
              <a:t>Request human clarification</a:t>
            </a:r>
          </a:p>
        </p:txBody>
      </p:sp>
    </p:spTree>
    <p:extLst>
      <p:ext uri="{BB962C8B-B14F-4D97-AF65-F5344CB8AC3E}">
        <p14:creationId xmlns:p14="http://schemas.microsoft.com/office/powerpoint/2010/main" val="1243386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>
            <a:extLst>
              <a:ext uri="{FF2B5EF4-FFF2-40B4-BE49-F238E27FC236}">
                <a16:creationId xmlns:a16="http://schemas.microsoft.com/office/drawing/2014/main" id="{104595D7-39F6-4CBC-8281-9083F30A7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Prosa IR is a versioned formalization plan</a:t>
            </a:r>
          </a:p>
        </p:txBody>
      </p:sp>
      <p:sp>
        <p:nvSpPr>
          <p:cNvPr id="158" name="Google Shape;158;p28">
            <a:extLst>
              <a:ext uri="{FF2B5EF4-FFF2-40B4-BE49-F238E27FC236}">
                <a16:creationId xmlns:a16="http://schemas.microsoft.com/office/drawing/2014/main" id="{134C7D3D-68FE-4EE4-8198-2B59EB2B5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03600" cy="3416400"/>
          </a:xfrm>
          <a:prstGeom prst="rect">
            <a:avLst/>
          </a:prstGeom>
          <a:ln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Prosa IR is target-oriented.</a:t>
            </a:r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  <a:p>
            <a:pPr marL="0" lv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t>It records exact library bindings, required adapters, unresolved assumptions, and extension obligations—without discarding their source evidence.</a:t>
            </a:r>
          </a:p>
        </p:txBody>
      </p:sp>
      <p:sp>
        <p:nvSpPr>
          <p:cNvPr id="159" name="prosa-ir-schema">
            <a:extLst>
              <a:ext uri="{FF2B5EF4-FFF2-40B4-BE49-F238E27FC236}">
                <a16:creationId xmlns:a16="http://schemas.microsoft.com/office/drawing/2014/main" id="{5B93103D-5E6D-4FF5-AD67-B86485781BB3}"/>
              </a:ext>
            </a:extLst>
          </p:cNvPr>
          <p:cNvSpPr>
            <a:spLocks noGrp="1"/>
          </p:cNvSpPr>
          <p:nvPr/>
        </p:nvSpPr>
        <p:spPr>
          <a:xfrm>
            <a:off x="4907099" y="1131570"/>
            <a:ext cx="3551201" cy="3806189"/>
          </a:xfrm>
          <a:prstGeom prst="rect">
            <a:avLst/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ProsaIR: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target: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prosa_release: v0.6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prosa_commit: &lt;pinned hash&gt;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rocq_version: 9.0.0</a:t>
            </a:r>
          </a:p>
          <a:p>
            <a:endParaRPr sz="795" b="0">
              <a:solidFill>
                <a:srgbClr val="202124"/>
              </a:solidFill>
            </a:endParaRP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requirement R2: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concept: fully_preemptive_EDF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candidate_modules: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  - prosa.model.preemption.fully_preemptive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  - prosa.model.priority.edf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required_parameters: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  - Job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  - job_arrival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  - job_deadline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  - schedule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contract_status: direct_instantiation</a:t>
            </a:r>
          </a:p>
          <a:p>
            <a:endParaRPr sz="795" b="0">
              <a:solidFill>
                <a:srgbClr val="202124"/>
              </a:solidFill>
            </a:endParaRP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requirement R8: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concept: probability_composition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contract_status: extension_required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proof_obligations: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  - define event semantics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  - justify independence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  - prove probability lower bound</a:t>
            </a:r>
          </a:p>
          <a:p>
            <a:endParaRPr sz="795" b="0">
              <a:solidFill>
                <a:srgbClr val="202124"/>
              </a:solidFill>
            </a:endParaRP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open_assumptions:</a:t>
            </a:r>
          </a:p>
          <a:p>
            <a:pPr algn="l">
              <a:defRPr sz="795" b="0">
                <a:solidFill>
                  <a:srgbClr val="202124"/>
                </a:solidFill>
              </a:defRPr>
            </a:pPr>
            <a:r>
              <a:rPr sz="795" b="0">
                <a:solidFill>
                  <a:srgbClr val="202124"/>
                </a:solidFill>
              </a:rPr>
              <a:t>    - independence_scope</a:t>
            </a:r>
          </a:p>
        </p:txBody>
      </p:sp>
    </p:spTree>
    <p:extLst>
      <p:ext uri="{BB962C8B-B14F-4D97-AF65-F5344CB8AC3E}">
        <p14:creationId xmlns:p14="http://schemas.microsoft.com/office/powerpoint/2010/main" val="529786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>
            <a:extLst>
              <a:ext uri="{FF2B5EF4-FFF2-40B4-BE49-F238E27FC236}">
                <a16:creationId xmlns:a16="http://schemas.microsoft.com/office/drawing/2014/main" id="{15CE0833-AC8A-4B05-BCF4-FD3CE9A8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Rocq verifies; the LLM diagnoses and repairs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73CECEB-2E33-4170-9F52-6FB0AC8D4BA7}"/>
              </a:ext>
            </a:extLst>
          </p:cNvPr>
          <p:cNvSpPr>
            <a:spLocks noGrp="1"/>
          </p:cNvSpPr>
          <p:nvPr/>
        </p:nvSpPr>
        <p:spPr>
          <a:xfrm>
            <a:off x="2592041" y="1361174"/>
            <a:ext cx="395992" cy="458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904C292-5E15-4213-A7B1-1971D9D1BBA6}"/>
              </a:ext>
            </a:extLst>
          </p:cNvPr>
          <p:cNvSpPr>
            <a:spLocks noGrp="1"/>
          </p:cNvSpPr>
          <p:nvPr/>
        </p:nvSpPr>
        <p:spPr>
          <a:xfrm>
            <a:off x="4308006" y="1361174"/>
            <a:ext cx="395992" cy="458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EED820F-B15B-42F8-923A-C0C2949277DA}"/>
              </a:ext>
            </a:extLst>
          </p:cNvPr>
          <p:cNvSpPr>
            <a:spLocks noGrp="1"/>
          </p:cNvSpPr>
          <p:nvPr/>
        </p:nvSpPr>
        <p:spPr>
          <a:xfrm>
            <a:off x="6023971" y="1361174"/>
            <a:ext cx="395992" cy="458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7B92A860-4C86-4F20-A0EA-BE5C1406BCD0}"/>
              </a:ext>
            </a:extLst>
          </p:cNvPr>
          <p:cNvSpPr>
            <a:spLocks noGrp="1"/>
          </p:cNvSpPr>
          <p:nvPr/>
        </p:nvSpPr>
        <p:spPr>
          <a:xfrm>
            <a:off x="1404065" y="1284754"/>
            <a:ext cx="1187976" cy="649566"/>
          </a:xfrm>
          <a:prstGeom prst="roundRect">
            <a:avLst>
              <a:gd name="adj" fmla="val 11731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PROSA IR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545CB006-781B-4A39-B3BD-C0B836EE1A1A}"/>
              </a:ext>
            </a:extLst>
          </p:cNvPr>
          <p:cNvSpPr>
            <a:spLocks noGrp="1"/>
          </p:cNvSpPr>
          <p:nvPr/>
        </p:nvSpPr>
        <p:spPr>
          <a:xfrm>
            <a:off x="2988033" y="1284754"/>
            <a:ext cx="1319973" cy="649566"/>
          </a:xfrm>
          <a:prstGeom prst="roundRect">
            <a:avLst>
              <a:gd name="adj" fmla="val 11731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DETERMINISTIC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SKELETON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23570B9-6D0B-471E-BDCC-C65CF26B2225}"/>
              </a:ext>
            </a:extLst>
          </p:cNvPr>
          <p:cNvSpPr>
            <a:spLocks noGrp="1"/>
          </p:cNvSpPr>
          <p:nvPr/>
        </p:nvSpPr>
        <p:spPr>
          <a:xfrm>
            <a:off x="4703998" y="1284754"/>
            <a:ext cx="1319973" cy="649566"/>
          </a:xfrm>
          <a:prstGeom prst="roundRect">
            <a:avLst>
              <a:gd name="adj" fmla="val 11731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LLM PROOF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COMPLETION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7C05A902-DD82-4648-AFB2-9907F9174131}"/>
              </a:ext>
            </a:extLst>
          </p:cNvPr>
          <p:cNvSpPr>
            <a:spLocks noGrp="1"/>
          </p:cNvSpPr>
          <p:nvPr/>
        </p:nvSpPr>
        <p:spPr>
          <a:xfrm>
            <a:off x="6419963" y="1284754"/>
            <a:ext cx="1319973" cy="649566"/>
          </a:xfrm>
          <a:prstGeom prst="roundRect">
            <a:avLst>
              <a:gd name="adj" fmla="val 11731"/>
            </a:avLst>
          </a:prstGeom>
          <a:solidFill>
            <a:srgbClr val="D9EAD3"/>
          </a:solidFill>
          <a:ln w="13335">
            <a:solidFill>
              <a:srgbClr val="82B366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2124"/>
                </a:solidFill>
              </a:defRPr>
            </a:pPr>
            <a:r>
              <a:rPr sz="1200" b="1">
                <a:solidFill>
                  <a:srgbClr val="202124"/>
                </a:solidFill>
              </a:rPr>
              <a:t>ROCQ CHECK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D8A6F95-6FA9-4C7A-9C65-829D7E236E26}"/>
              </a:ext>
            </a:extLst>
          </p:cNvPr>
          <p:cNvSpPr>
            <a:spLocks noGrp="1"/>
          </p:cNvSpPr>
          <p:nvPr/>
        </p:nvSpPr>
        <p:spPr>
          <a:xfrm>
            <a:off x="2196049" y="2239998"/>
            <a:ext cx="4751903" cy="3820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F6368"/>
                </a:solidFill>
              </a:defRPr>
            </a:pPr>
            <a:r>
              <a:rPr sz="1125" b="1">
                <a:solidFill>
                  <a:srgbClr val="5F6368"/>
                </a:solidFill>
              </a:rPr>
              <a:t>Typed diagnostics are routed to the earliest responsible layer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37B3B067-7161-4798-8B37-6313B6518C48}"/>
              </a:ext>
            </a:extLst>
          </p:cNvPr>
          <p:cNvSpPr>
            <a:spLocks noGrp="1"/>
          </p:cNvSpPr>
          <p:nvPr/>
        </p:nvSpPr>
        <p:spPr>
          <a:xfrm>
            <a:off x="1932055" y="2774934"/>
            <a:ext cx="3167935" cy="401202"/>
          </a:xfrm>
          <a:prstGeom prst="roundRect">
            <a:avLst>
              <a:gd name="adj" fmla="val 18993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Import / identifier / type error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04F94C9-5CC8-4BC6-A912-4C6EA7D50E36}"/>
              </a:ext>
            </a:extLst>
          </p:cNvPr>
          <p:cNvSpPr>
            <a:spLocks noGrp="1"/>
          </p:cNvSpPr>
          <p:nvPr/>
        </p:nvSpPr>
        <p:spPr>
          <a:xfrm>
            <a:off x="5165988" y="2774934"/>
            <a:ext cx="527989" cy="401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E0D455DC-5A37-4894-8B6B-BAA7601FBB81}"/>
              </a:ext>
            </a:extLst>
          </p:cNvPr>
          <p:cNvSpPr>
            <a:spLocks noGrp="1"/>
          </p:cNvSpPr>
          <p:nvPr/>
        </p:nvSpPr>
        <p:spPr>
          <a:xfrm>
            <a:off x="5759976" y="2774934"/>
            <a:ext cx="1451970" cy="401202"/>
          </a:xfrm>
          <a:prstGeom prst="roundRect">
            <a:avLst>
              <a:gd name="adj" fmla="val 18993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Prosa IR</a:t>
            </a:r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D151AB28-77FC-4B8E-BF40-E276A11537FA}"/>
              </a:ext>
            </a:extLst>
          </p:cNvPr>
          <p:cNvSpPr>
            <a:spLocks noGrp="1"/>
          </p:cNvSpPr>
          <p:nvPr/>
        </p:nvSpPr>
        <p:spPr>
          <a:xfrm>
            <a:off x="1932055" y="3271661"/>
            <a:ext cx="3167935" cy="401202"/>
          </a:xfrm>
          <a:prstGeom prst="roundRect">
            <a:avLst>
              <a:gd name="adj" fmla="val 18993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Missing premise or proof step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A065D91-5492-4B14-AE32-363C98806B1A}"/>
              </a:ext>
            </a:extLst>
          </p:cNvPr>
          <p:cNvSpPr>
            <a:spLocks noGrp="1"/>
          </p:cNvSpPr>
          <p:nvPr/>
        </p:nvSpPr>
        <p:spPr>
          <a:xfrm>
            <a:off x="5165988" y="3271661"/>
            <a:ext cx="527989" cy="401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130B191C-4210-41E7-9CBE-0FCC5995691E}"/>
              </a:ext>
            </a:extLst>
          </p:cNvPr>
          <p:cNvSpPr>
            <a:spLocks noGrp="1"/>
          </p:cNvSpPr>
          <p:nvPr/>
        </p:nvSpPr>
        <p:spPr>
          <a:xfrm>
            <a:off x="5759976" y="3271661"/>
            <a:ext cx="1451970" cy="401202"/>
          </a:xfrm>
          <a:prstGeom prst="roundRect">
            <a:avLst>
              <a:gd name="adj" fmla="val 18993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Proof IR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1CDA4A29-B1A8-4A39-BE96-6E359ADE4B61}"/>
              </a:ext>
            </a:extLst>
          </p:cNvPr>
          <p:cNvSpPr>
            <a:spLocks noGrp="1"/>
          </p:cNvSpPr>
          <p:nvPr/>
        </p:nvSpPr>
        <p:spPr>
          <a:xfrm>
            <a:off x="1932055" y="3768387"/>
            <a:ext cx="3167935" cy="401202"/>
          </a:xfrm>
          <a:prstGeom prst="roundRect">
            <a:avLst>
              <a:gd name="adj" fmla="val 18993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Incompatible definition or assumption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E2B8BCF-B465-49A1-8C2B-98002A7032BF}"/>
              </a:ext>
            </a:extLst>
          </p:cNvPr>
          <p:cNvSpPr>
            <a:spLocks noGrp="1"/>
          </p:cNvSpPr>
          <p:nvPr/>
        </p:nvSpPr>
        <p:spPr>
          <a:xfrm>
            <a:off x="5165988" y="3768387"/>
            <a:ext cx="527989" cy="401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696ED759-8E9A-429B-87EA-0B01A7D4CD8A}"/>
              </a:ext>
            </a:extLst>
          </p:cNvPr>
          <p:cNvSpPr>
            <a:spLocks noGrp="1"/>
          </p:cNvSpPr>
          <p:nvPr/>
        </p:nvSpPr>
        <p:spPr>
          <a:xfrm>
            <a:off x="5759976" y="3768387"/>
            <a:ext cx="1451970" cy="401202"/>
          </a:xfrm>
          <a:prstGeom prst="roundRect">
            <a:avLst>
              <a:gd name="adj" fmla="val 18993"/>
            </a:avLst>
          </a:prstGeom>
          <a:solidFill>
            <a:srgbClr val="F4CCCC"/>
          </a:solidFill>
          <a:ln w="13335">
            <a:solidFill>
              <a:srgbClr val="B85450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Model / Analysis IR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43BE264B-31CB-4B0B-A6AD-82365C5B13FF}"/>
              </a:ext>
            </a:extLst>
          </p:cNvPr>
          <p:cNvSpPr>
            <a:spLocks noGrp="1"/>
          </p:cNvSpPr>
          <p:nvPr/>
        </p:nvSpPr>
        <p:spPr>
          <a:xfrm>
            <a:off x="1932055" y="4265114"/>
            <a:ext cx="3167935" cy="401202"/>
          </a:xfrm>
          <a:prstGeom prst="roundRect">
            <a:avLst>
              <a:gd name="adj" fmla="val 18993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Unsupported source inference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02575D7-1627-45C0-A259-ECC3CD58BA12}"/>
              </a:ext>
            </a:extLst>
          </p:cNvPr>
          <p:cNvSpPr>
            <a:spLocks noGrp="1"/>
          </p:cNvSpPr>
          <p:nvPr/>
        </p:nvSpPr>
        <p:spPr>
          <a:xfrm>
            <a:off x="5165988" y="4265114"/>
            <a:ext cx="527989" cy="401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F6368"/>
                </a:solidFill>
              </a:defRPr>
            </a:pPr>
            <a:r>
              <a:rPr sz="150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26D13858-45D0-4B92-829E-A9456B872572}"/>
              </a:ext>
            </a:extLst>
          </p:cNvPr>
          <p:cNvSpPr>
            <a:spLocks noGrp="1"/>
          </p:cNvSpPr>
          <p:nvPr/>
        </p:nvSpPr>
        <p:spPr>
          <a:xfrm>
            <a:off x="5759976" y="4265114"/>
            <a:ext cx="1451970" cy="401202"/>
          </a:xfrm>
          <a:prstGeom prst="roundRect">
            <a:avLst>
              <a:gd name="adj" fmla="val 18993"/>
            </a:avLst>
          </a:prstGeom>
          <a:solidFill>
            <a:srgbClr val="F4CCCC"/>
          </a:solidFill>
          <a:ln w="13335">
            <a:solidFill>
              <a:srgbClr val="B85450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829691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>
            <a:extLst>
              <a:ext uri="{FF2B5EF4-FFF2-40B4-BE49-F238E27FC236}">
                <a16:creationId xmlns:a16="http://schemas.microsoft.com/office/drawing/2014/main" id="{1F71EA13-A457-46D8-A1C0-D63D22BC7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output exposes proof status and residual risk</a:t>
            </a: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453AF386-2C63-4DAB-8614-E5FC53338021}"/>
              </a:ext>
            </a:extLst>
          </p:cNvPr>
          <p:cNvSpPr>
            <a:spLocks noGrp="1"/>
          </p:cNvSpPr>
          <p:nvPr/>
        </p:nvSpPr>
        <p:spPr>
          <a:xfrm>
            <a:off x="3092473" y="1174583"/>
            <a:ext cx="2959055" cy="549007"/>
          </a:xfrm>
          <a:prstGeom prst="roundRect">
            <a:avLst>
              <a:gd name="adj" fmla="val 13880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VERIFIED PROOF PACKAGE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6075DC4-D554-4B0A-BCF9-437929FCEE74}"/>
              </a:ext>
            </a:extLst>
          </p:cNvPr>
          <p:cNvSpPr>
            <a:spLocks noGrp="1"/>
          </p:cNvSpPr>
          <p:nvPr/>
        </p:nvSpPr>
        <p:spPr>
          <a:xfrm>
            <a:off x="4302996" y="1723590"/>
            <a:ext cx="538010" cy="3921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↓</a:t>
            </a: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A42D83C5-3FFC-4CBF-ADB2-3753170ABA73}"/>
              </a:ext>
            </a:extLst>
          </p:cNvPr>
          <p:cNvSpPr>
            <a:spLocks noGrp="1"/>
          </p:cNvSpPr>
          <p:nvPr/>
        </p:nvSpPr>
        <p:spPr>
          <a:xfrm>
            <a:off x="1747448" y="2194167"/>
            <a:ext cx="1883035" cy="431362"/>
          </a:xfrm>
          <a:prstGeom prst="roundRect">
            <a:avLst>
              <a:gd name="adj" fmla="val 17665"/>
            </a:avLst>
          </a:prstGeom>
          <a:solidFill>
            <a:srgbClr val="D9EAD3"/>
          </a:solidFill>
          <a:ln w="13335">
            <a:solidFill>
              <a:srgbClr val="82B366"/>
            </a:solidFill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202124"/>
                </a:solidFill>
              </a:defRPr>
            </a:pPr>
            <a:r>
              <a:rPr sz="1013" b="1">
                <a:solidFill>
                  <a:srgbClr val="202124"/>
                </a:solidFill>
              </a:rPr>
              <a:t>Verified theorem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7D44F866-1C38-474E-9D26-86A36D5F07C1}"/>
              </a:ext>
            </a:extLst>
          </p:cNvPr>
          <p:cNvSpPr>
            <a:spLocks noGrp="1"/>
          </p:cNvSpPr>
          <p:nvPr/>
        </p:nvSpPr>
        <p:spPr>
          <a:xfrm>
            <a:off x="3764986" y="2194167"/>
            <a:ext cx="3631568" cy="431362"/>
          </a:xfrm>
          <a:prstGeom prst="roundRect">
            <a:avLst>
              <a:gd name="adj" fmla="val 17665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202124"/>
                </a:solidFill>
              </a:defRPr>
            </a:pPr>
            <a:r>
              <a:rPr sz="990" b="0">
                <a:solidFill>
                  <a:srgbClr val="202124"/>
                </a:solidFill>
              </a:rPr>
              <a:t>Accepted Rocq artifact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4BAF6E01-5478-4344-92BF-493DB73352D2}"/>
              </a:ext>
            </a:extLst>
          </p:cNvPr>
          <p:cNvSpPr>
            <a:spLocks noGrp="1"/>
          </p:cNvSpPr>
          <p:nvPr/>
        </p:nvSpPr>
        <p:spPr>
          <a:xfrm>
            <a:off x="1747448" y="2743173"/>
            <a:ext cx="1883035" cy="431362"/>
          </a:xfrm>
          <a:prstGeom prst="roundRect">
            <a:avLst>
              <a:gd name="adj" fmla="val 17665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202124"/>
                </a:solidFill>
              </a:defRPr>
            </a:pPr>
            <a:r>
              <a:rPr sz="1013" b="1">
                <a:solidFill>
                  <a:srgbClr val="202124"/>
                </a:solidFill>
              </a:rPr>
              <a:t>Formal assumptions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7DA50462-DD0B-4C6E-B20D-3F1BE8772661}"/>
              </a:ext>
            </a:extLst>
          </p:cNvPr>
          <p:cNvSpPr>
            <a:spLocks noGrp="1"/>
          </p:cNvSpPr>
          <p:nvPr/>
        </p:nvSpPr>
        <p:spPr>
          <a:xfrm>
            <a:off x="3764986" y="2743173"/>
            <a:ext cx="3631568" cy="431362"/>
          </a:xfrm>
          <a:prstGeom prst="roundRect">
            <a:avLst>
              <a:gd name="adj" fmla="val 17665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202124"/>
                </a:solidFill>
              </a:defRPr>
            </a:pPr>
            <a:r>
              <a:rPr sz="990" b="0">
                <a:solidFill>
                  <a:srgbClr val="202124"/>
                </a:solidFill>
              </a:rPr>
              <a:t>Exact scope of the claim</a:t>
            </a:r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D0D082BB-E668-42B4-A33D-2FE0E7944230}"/>
              </a:ext>
            </a:extLst>
          </p:cNvPr>
          <p:cNvSpPr>
            <a:spLocks noGrp="1"/>
          </p:cNvSpPr>
          <p:nvPr/>
        </p:nvSpPr>
        <p:spPr>
          <a:xfrm>
            <a:off x="1747448" y="3292180"/>
            <a:ext cx="1883035" cy="431362"/>
          </a:xfrm>
          <a:prstGeom prst="roundRect">
            <a:avLst>
              <a:gd name="adj" fmla="val 17665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202124"/>
                </a:solidFill>
              </a:defRPr>
            </a:pPr>
            <a:r>
              <a:rPr sz="1013" b="1">
                <a:solidFill>
                  <a:srgbClr val="202124"/>
                </a:solidFill>
              </a:rPr>
              <a:t>Traceability map</a:t>
            </a: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5B2AFDE4-ACA7-4AD1-A761-FF901C9B9804}"/>
              </a:ext>
            </a:extLst>
          </p:cNvPr>
          <p:cNvSpPr>
            <a:spLocks noGrp="1"/>
          </p:cNvSpPr>
          <p:nvPr/>
        </p:nvSpPr>
        <p:spPr>
          <a:xfrm>
            <a:off x="3764986" y="3292180"/>
            <a:ext cx="3631568" cy="431362"/>
          </a:xfrm>
          <a:prstGeom prst="roundRect">
            <a:avLst>
              <a:gd name="adj" fmla="val 17665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202124"/>
                </a:solidFill>
              </a:defRPr>
            </a:pPr>
            <a:r>
              <a:rPr sz="990" b="0">
                <a:solidFill>
                  <a:srgbClr val="202124"/>
                </a:solidFill>
              </a:rPr>
              <a:t>Paper span → IR node → Prosa declaration</a:t>
            </a: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9DF0AEA3-92E6-4CCB-AF00-EDE546A51666}"/>
              </a:ext>
            </a:extLst>
          </p:cNvPr>
          <p:cNvSpPr>
            <a:spLocks noGrp="1"/>
          </p:cNvSpPr>
          <p:nvPr/>
        </p:nvSpPr>
        <p:spPr>
          <a:xfrm>
            <a:off x="1747448" y="3841186"/>
            <a:ext cx="1883035" cy="431362"/>
          </a:xfrm>
          <a:prstGeom prst="roundRect">
            <a:avLst>
              <a:gd name="adj" fmla="val 17665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013" b="1">
                <a:solidFill>
                  <a:srgbClr val="202124"/>
                </a:solidFill>
              </a:defRPr>
            </a:pPr>
            <a:r>
              <a:rPr sz="1013" b="1">
                <a:solidFill>
                  <a:srgbClr val="202124"/>
                </a:solidFill>
              </a:rPr>
              <a:t>Open obligations</a:t>
            </a:r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C4C80505-D178-4E2B-ACE7-24C477599C5C}"/>
              </a:ext>
            </a:extLst>
          </p:cNvPr>
          <p:cNvSpPr>
            <a:spLocks noGrp="1"/>
          </p:cNvSpPr>
          <p:nvPr/>
        </p:nvSpPr>
        <p:spPr>
          <a:xfrm>
            <a:off x="3764986" y="3841186"/>
            <a:ext cx="3631568" cy="431362"/>
          </a:xfrm>
          <a:prstGeom prst="roundRect">
            <a:avLst>
              <a:gd name="adj" fmla="val 17665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202124"/>
                </a:solidFill>
              </a:defRPr>
            </a:pPr>
            <a:r>
              <a:rPr sz="990" b="0">
                <a:solidFill>
                  <a:srgbClr val="202124"/>
                </a:solidFill>
              </a:rPr>
              <a:t>Missing premise, extension, or clarification</a:t>
            </a:r>
          </a:p>
        </p:txBody>
      </p: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0DF25506-5705-4C8B-8618-4783D7DE90C6}"/>
              </a:ext>
            </a:extLst>
          </p:cNvPr>
          <p:cNvSpPr>
            <a:spLocks noGrp="1"/>
          </p:cNvSpPr>
          <p:nvPr/>
        </p:nvSpPr>
        <p:spPr>
          <a:xfrm>
            <a:off x="2016453" y="4468622"/>
            <a:ext cx="1345025" cy="352933"/>
          </a:xfrm>
          <a:prstGeom prst="roundRect">
            <a:avLst>
              <a:gd name="adj" fmla="val 21591"/>
            </a:avLst>
          </a:prstGeom>
          <a:solidFill>
            <a:srgbClr val="D9EAD3"/>
          </a:solidFill>
          <a:ln w="13335">
            <a:solidFill>
              <a:srgbClr val="82B366"/>
            </a:solidFill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202124"/>
                </a:solidFill>
              </a:defRPr>
            </a:pPr>
            <a:r>
              <a:rPr sz="938" b="1">
                <a:solidFill>
                  <a:srgbClr val="202124"/>
                </a:solidFill>
              </a:rPr>
              <a:t>VERIFIED</a:t>
            </a: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0F94F292-D382-4E22-ABC0-9ECE241ACD07}"/>
              </a:ext>
            </a:extLst>
          </p:cNvPr>
          <p:cNvSpPr>
            <a:spLocks noGrp="1"/>
          </p:cNvSpPr>
          <p:nvPr/>
        </p:nvSpPr>
        <p:spPr>
          <a:xfrm>
            <a:off x="3899488" y="4468622"/>
            <a:ext cx="1345025" cy="352933"/>
          </a:xfrm>
          <a:prstGeom prst="roundRect">
            <a:avLst>
              <a:gd name="adj" fmla="val 21591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202124"/>
                </a:solidFill>
              </a:defRPr>
            </a:pPr>
            <a:r>
              <a:rPr sz="938" b="1">
                <a:solidFill>
                  <a:srgbClr val="202124"/>
                </a:solidFill>
              </a:rPr>
              <a:t>CONDITIONAL</a:t>
            </a:r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C011B899-10B0-4103-B4BD-C54336D2BE47}"/>
              </a:ext>
            </a:extLst>
          </p:cNvPr>
          <p:cNvSpPr>
            <a:spLocks noGrp="1"/>
          </p:cNvSpPr>
          <p:nvPr/>
        </p:nvSpPr>
        <p:spPr>
          <a:xfrm>
            <a:off x="5782523" y="4468622"/>
            <a:ext cx="1345025" cy="352933"/>
          </a:xfrm>
          <a:prstGeom prst="roundRect">
            <a:avLst>
              <a:gd name="adj" fmla="val 21591"/>
            </a:avLst>
          </a:prstGeom>
          <a:solidFill>
            <a:srgbClr val="F4CCCC"/>
          </a:solidFill>
          <a:ln w="13335">
            <a:solidFill>
              <a:srgbClr val="B85450"/>
            </a:solidFill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202124"/>
                </a:solidFill>
              </a:defRPr>
            </a:pPr>
            <a:r>
              <a:rPr sz="938" b="1">
                <a:solidFill>
                  <a:srgbClr val="202124"/>
                </a:solidFill>
              </a:rPr>
              <a:t>BLOCKED</a:t>
            </a:r>
          </a:p>
        </p:txBody>
      </p:sp>
    </p:spTree>
    <p:extLst>
      <p:ext uri="{BB962C8B-B14F-4D97-AF65-F5344CB8AC3E}">
        <p14:creationId xmlns:p14="http://schemas.microsoft.com/office/powerpoint/2010/main" val="908280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>
            <a:extLst>
              <a:ext uri="{FF2B5EF4-FFF2-40B4-BE49-F238E27FC236}">
                <a16:creationId xmlns:a16="http://schemas.microsoft.com/office/drawing/2014/main" id="{2BCE958F-D489-4B84-AB6D-8D482CA84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Evaluation isolates where translation fails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6CD9EC04-B66C-4080-962C-0637D0EF0363}"/>
              </a:ext>
            </a:extLst>
          </p:cNvPr>
          <p:cNvSpPr>
            <a:spLocks noGrp="1"/>
          </p:cNvSpPr>
          <p:nvPr/>
        </p:nvSpPr>
        <p:spPr>
          <a:xfrm>
            <a:off x="482112" y="1220803"/>
            <a:ext cx="2130150" cy="512460"/>
          </a:xfrm>
          <a:prstGeom prst="roundRect">
            <a:avLst>
              <a:gd name="adj" fmla="val 14869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RQ1 — SEMANTIC RECOVERY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08E44669-CE0D-494A-9E66-3A413EE90B06}"/>
              </a:ext>
            </a:extLst>
          </p:cNvPr>
          <p:cNvSpPr>
            <a:spLocks noGrp="1"/>
          </p:cNvSpPr>
          <p:nvPr/>
        </p:nvSpPr>
        <p:spPr>
          <a:xfrm>
            <a:off x="2782674" y="1220803"/>
            <a:ext cx="5879214" cy="51246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Expert agreement on Model, Analysis, and Proof IRs; unsupported-assumption rate.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F234DD63-5B1C-4A9E-BABA-4A81C591CCD5}"/>
              </a:ext>
            </a:extLst>
          </p:cNvPr>
          <p:cNvSpPr>
            <a:spLocks noGrp="1"/>
          </p:cNvSpPr>
          <p:nvPr/>
        </p:nvSpPr>
        <p:spPr>
          <a:xfrm>
            <a:off x="482112" y="1904083"/>
            <a:ext cx="2130150" cy="512460"/>
          </a:xfrm>
          <a:prstGeom prst="roundRect">
            <a:avLst>
              <a:gd name="adj" fmla="val 14869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RQ2 — PROSA GROUNDING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15404FA0-7CA7-4F8F-8221-AAA7DF120A57}"/>
              </a:ext>
            </a:extLst>
          </p:cNvPr>
          <p:cNvSpPr>
            <a:spLocks noGrp="1"/>
          </p:cNvSpPr>
          <p:nvPr/>
        </p:nvSpPr>
        <p:spPr>
          <a:xfrm>
            <a:off x="2782674" y="1904083"/>
            <a:ext cx="5879214" cy="51246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Candidate-retrieval recall; correct binding and outcome-classification precision.</a:t>
            </a:r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B4AD0A62-BEEF-4625-AAC4-2A7443A997E7}"/>
              </a:ext>
            </a:extLst>
          </p:cNvPr>
          <p:cNvSpPr>
            <a:spLocks noGrp="1"/>
          </p:cNvSpPr>
          <p:nvPr/>
        </p:nvSpPr>
        <p:spPr>
          <a:xfrm>
            <a:off x="482112" y="2587363"/>
            <a:ext cx="2130150" cy="512460"/>
          </a:xfrm>
          <a:prstGeom prst="roundRect">
            <a:avLst>
              <a:gd name="adj" fmla="val 14869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RQ3 — GENERATION + REPAIR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330102B8-BD48-479C-8429-5B79AD448A5E}"/>
              </a:ext>
            </a:extLst>
          </p:cNvPr>
          <p:cNvSpPr>
            <a:spLocks noGrp="1"/>
          </p:cNvSpPr>
          <p:nvPr/>
        </p:nvSpPr>
        <p:spPr>
          <a:xfrm>
            <a:off x="2782674" y="2587363"/>
            <a:ext cx="5879214" cy="51246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Rocq acceptance; repair iterations; localized versus full regeneration.</a:t>
            </a:r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6301A248-392E-4C43-94BA-0440F35EF129}"/>
              </a:ext>
            </a:extLst>
          </p:cNvPr>
          <p:cNvSpPr>
            <a:spLocks noGrp="1"/>
          </p:cNvSpPr>
          <p:nvPr/>
        </p:nvSpPr>
        <p:spPr>
          <a:xfrm>
            <a:off x="482112" y="3270643"/>
            <a:ext cx="2130150" cy="512460"/>
          </a:xfrm>
          <a:prstGeom prst="roundRect">
            <a:avLst>
              <a:gd name="adj" fmla="val 14869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RQ4 — SOURCE FAITHFULNESS</a:t>
            </a: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899E52AA-7E45-424A-8B00-38BBF09151C1}"/>
              </a:ext>
            </a:extLst>
          </p:cNvPr>
          <p:cNvSpPr>
            <a:spLocks noGrp="1"/>
          </p:cNvSpPr>
          <p:nvPr/>
        </p:nvSpPr>
        <p:spPr>
          <a:xfrm>
            <a:off x="2782674" y="3270643"/>
            <a:ext cx="5879214" cy="512460"/>
          </a:xfrm>
          <a:prstGeom prst="roundRect">
            <a:avLst>
              <a:gd name="adj" fmla="val 14869"/>
            </a:avLst>
          </a:prstGeom>
          <a:solidFill>
            <a:srgbClr val="FFFFFF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202124"/>
                </a:solidFill>
              </a:defRPr>
            </a:pPr>
            <a:r>
              <a:rPr sz="975" b="0">
                <a:solidFill>
                  <a:srgbClr val="202124"/>
                </a:solidFill>
              </a:rPr>
              <a:t>Expert-detected drift; coverage of paper → IR → Prosa traceability.</a:t>
            </a:r>
          </a:p>
        </p:txBody>
      </p: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B6EACB7F-A94E-4C12-B69D-A2822B29A4C4}"/>
              </a:ext>
            </a:extLst>
          </p:cNvPr>
          <p:cNvSpPr>
            <a:spLocks noGrp="1"/>
          </p:cNvSpPr>
          <p:nvPr/>
        </p:nvSpPr>
        <p:spPr>
          <a:xfrm>
            <a:off x="1163760" y="4022251"/>
            <a:ext cx="6816480" cy="409968"/>
          </a:xfrm>
          <a:prstGeom prst="roundRect">
            <a:avLst>
              <a:gd name="adj" fmla="val 18587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202124"/>
                </a:solidFill>
              </a:defRPr>
            </a:pPr>
            <a:r>
              <a:rPr sz="938" b="1">
                <a:solidFill>
                  <a:srgbClr val="202124"/>
                </a:solidFill>
              </a:rPr>
              <a:t>Benchmark: representative RTS papers paired with expert IRs and available Prosa proofs</a:t>
            </a:r>
          </a:p>
        </p:txBody>
      </p:sp>
    </p:spTree>
    <p:extLst>
      <p:ext uri="{BB962C8B-B14F-4D97-AF65-F5344CB8AC3E}">
        <p14:creationId xmlns:p14="http://schemas.microsoft.com/office/powerpoint/2010/main" val="1706290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>
            <a:extLst>
              <a:ext uri="{FF2B5EF4-FFF2-40B4-BE49-F238E27FC236}">
                <a16:creationId xmlns:a16="http://schemas.microsoft.com/office/drawing/2014/main" id="{1F71EA13-A457-46D8-A1C0-D63D22BC7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136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assurance chain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799371B5-7CB0-4CA2-8F08-9E6E1DFA9278}"/>
              </a:ext>
            </a:extLst>
          </p:cNvPr>
          <p:cNvSpPr>
            <a:spLocks noGrp="1"/>
          </p:cNvSpPr>
          <p:nvPr/>
        </p:nvSpPr>
        <p:spPr>
          <a:xfrm>
            <a:off x="2688966" y="2390240"/>
            <a:ext cx="403508" cy="5490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031DA46A-A503-443B-8B49-952D7488C88B}"/>
              </a:ext>
            </a:extLst>
          </p:cNvPr>
          <p:cNvSpPr>
            <a:spLocks noGrp="1"/>
          </p:cNvSpPr>
          <p:nvPr/>
        </p:nvSpPr>
        <p:spPr>
          <a:xfrm>
            <a:off x="4370247" y="2390240"/>
            <a:ext cx="403508" cy="5490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B6CCABD-09C4-4F72-937F-B8CCF808049D}"/>
              </a:ext>
            </a:extLst>
          </p:cNvPr>
          <p:cNvSpPr>
            <a:spLocks noGrp="1"/>
          </p:cNvSpPr>
          <p:nvPr/>
        </p:nvSpPr>
        <p:spPr>
          <a:xfrm>
            <a:off x="6051528" y="2390240"/>
            <a:ext cx="403508" cy="5490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5F6368"/>
                </a:solidFill>
              </a:defRPr>
            </a:pPr>
            <a:r>
              <a:rPr sz="1950" b="1">
                <a:solidFill>
                  <a:srgbClr val="5F6368"/>
                </a:solidFill>
              </a:rPr>
              <a:t>→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3EAD5D58-FA17-470F-BD19-6C776DE21CE8}"/>
              </a:ext>
            </a:extLst>
          </p:cNvPr>
          <p:cNvSpPr>
            <a:spLocks noGrp="1"/>
          </p:cNvSpPr>
          <p:nvPr/>
        </p:nvSpPr>
        <p:spPr>
          <a:xfrm>
            <a:off x="1343941" y="2076522"/>
            <a:ext cx="1345025" cy="1098013"/>
          </a:xfrm>
          <a:prstGeom prst="roundRect">
            <a:avLst>
              <a:gd name="adj" fmla="val 6940"/>
            </a:avLst>
          </a:prstGeom>
          <a:solidFill>
            <a:srgbClr val="F4F5F7"/>
          </a:solidFill>
          <a:ln w="13335">
            <a:solidFill>
              <a:srgbClr val="AEB4BB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LLM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proposes structured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semantics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F3DCA412-0333-42F0-830F-6033DD3E1D41}"/>
              </a:ext>
            </a:extLst>
          </p:cNvPr>
          <p:cNvSpPr>
            <a:spLocks noGrp="1"/>
          </p:cNvSpPr>
          <p:nvPr/>
        </p:nvSpPr>
        <p:spPr>
          <a:xfrm>
            <a:off x="3092473" y="2076522"/>
            <a:ext cx="1277774" cy="1098013"/>
          </a:xfrm>
          <a:prstGeom prst="roundRect">
            <a:avLst>
              <a:gd name="adj" fmla="val 6940"/>
            </a:avLst>
          </a:prstGeom>
          <a:solidFill>
            <a:srgbClr val="DCE8FA"/>
          </a:solidFill>
          <a:ln w="13335">
            <a:solidFill>
              <a:srgbClr val="7BA4D9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IR CONTRACTS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expose ambiguity</a:t>
            </a:r>
          </a:p>
          <a:p>
            <a:pPr algn="ctr"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+ dependencies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AB77D404-0A3B-472A-B1FB-F289B9694ABF}"/>
              </a:ext>
            </a:extLst>
          </p:cNvPr>
          <p:cNvSpPr>
            <a:spLocks noGrp="1"/>
          </p:cNvSpPr>
          <p:nvPr/>
        </p:nvSpPr>
        <p:spPr>
          <a:xfrm>
            <a:off x="4773754" y="2076522"/>
            <a:ext cx="1277774" cy="1098013"/>
          </a:xfrm>
          <a:prstGeom prst="roundRect">
            <a:avLst>
              <a:gd name="adj" fmla="val 6940"/>
            </a:avLst>
          </a:prstGeom>
          <a:solidFill>
            <a:srgbClr val="FFF2CC"/>
          </a:solidFill>
          <a:ln w="13335">
            <a:solidFill>
              <a:srgbClr val="D6B656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PROSA GROUNDING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builds the formalization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plan</a:t>
            </a:r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01E85DD2-87EB-4EBB-A43F-72387F2DDF40}"/>
              </a:ext>
            </a:extLst>
          </p:cNvPr>
          <p:cNvSpPr>
            <a:spLocks noGrp="1"/>
          </p:cNvSpPr>
          <p:nvPr/>
        </p:nvSpPr>
        <p:spPr>
          <a:xfrm>
            <a:off x="6455036" y="2076522"/>
            <a:ext cx="1345025" cy="1098013"/>
          </a:xfrm>
          <a:prstGeom prst="roundRect">
            <a:avLst>
              <a:gd name="adj" fmla="val 6940"/>
            </a:avLst>
          </a:prstGeom>
          <a:solidFill>
            <a:srgbClr val="D9EAD3"/>
          </a:solidFill>
          <a:ln w="13335">
            <a:solidFill>
              <a:srgbClr val="82B366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ROCQ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certifies the</a:t>
            </a:r>
          </a:p>
          <a:p>
            <a:pPr algn="ctr">
              <a:defRPr sz="1125" b="1">
                <a:solidFill>
                  <a:srgbClr val="202124"/>
                </a:solidFill>
              </a:defRPr>
            </a:pPr>
            <a:r>
              <a:rPr sz="1125" b="1">
                <a:solidFill>
                  <a:srgbClr val="202124"/>
                </a:solidFill>
              </a:rPr>
              <a:t>result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DB1F78F-3182-46AE-A33B-4AE66603C200}"/>
              </a:ext>
            </a:extLst>
          </p:cNvPr>
          <p:cNvSpPr>
            <a:spLocks noGrp="1"/>
          </p:cNvSpPr>
          <p:nvPr/>
        </p:nvSpPr>
        <p:spPr>
          <a:xfrm>
            <a:off x="1747448" y="3684327"/>
            <a:ext cx="5649105" cy="6274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202124"/>
                </a:solidFill>
              </a:defRPr>
            </a:pPr>
            <a:r>
              <a:rPr sz="1275" b="1">
                <a:solidFill>
                  <a:srgbClr val="202124"/>
                </a:solidFill>
              </a:rPr>
              <a:t>The LLM does not replace mechanized reasoning; it compiles informal reasoning into explicit, checkable obligations.</a:t>
            </a:r>
          </a:p>
        </p:txBody>
      </p:sp>
    </p:spTree>
    <p:extLst>
      <p:ext uri="{BB962C8B-B14F-4D97-AF65-F5344CB8AC3E}">
        <p14:creationId xmlns:p14="http://schemas.microsoft.com/office/powerpoint/2010/main" val="90828052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2075</Words>
  <Application>Microsoft Macintosh PowerPoint</Application>
  <DocSecurity>0</DocSecurity>
  <PresentationFormat>On-screen Show (16:9)</PresentationFormat>
  <Paragraphs>394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Courier New</vt:lpstr>
      <vt:lpstr>Roboto Mono</vt:lpstr>
      <vt:lpstr>Arial</vt:lpstr>
      <vt:lpstr>Simple Light</vt:lpstr>
      <vt:lpstr>IR-DRIVEN PROSA PROOF COMPILATION</vt:lpstr>
      <vt:lpstr>Prosa separates four levels of RTS knowledge</vt:lpstr>
      <vt:lpstr>Paper and Prosa structures do not align one-to-one</vt:lpstr>
      <vt:lpstr>One sentence mixes facts, ambiguity, and omissions</vt:lpstr>
      <vt:lpstr>IR separates proof understanding from formalization</vt:lpstr>
      <vt:lpstr>Three typed views share one semantic graph</vt:lpstr>
      <vt:lpstr>Model IR records only the analyzed system</vt:lpstr>
      <vt:lpstr>Analysis IR defines the mathematical machinery</vt:lpstr>
      <vt:lpstr>Proof IR makes the argument executable</vt:lpstr>
      <vt:lpstr>Cross-IR checks catch errors before code generation</vt:lpstr>
      <vt:lpstr>Retrieval proposes; contracts establish compatibility</vt:lpstr>
      <vt:lpstr>Matching yields six explicit outcomes</vt:lpstr>
      <vt:lpstr>Prosa IR is a versioned formalization plan</vt:lpstr>
      <vt:lpstr>Rocq verifies; the LLM diagnoses and repairs</vt:lpstr>
      <vt:lpstr>The output exposes proof status and residual risk</vt:lpstr>
      <vt:lpstr>Evaluation isolates where translation fails</vt:lpstr>
      <vt:lpstr>The assurance chain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Abdullah Al Arafat</cp:lastModifiedBy>
  <cp:revision>1</cp:revision>
  <dcterms:created xsi:type="dcterms:W3CDTF">2026-09-06T22:51:24Z</dcterms:created>
  <dcterms:modified xsi:type="dcterms:W3CDTF">2026-09-06T23:19:07Z</dcterms:modified>
</cp:coreProperties>
</file>