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BE5884-472B-4BF6-B1F5-DB61CF759C30}">
  <a:tblStyle styleId="{A5BE5884-472B-4BF6-B1F5-DB61CF759C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teh-nk2viVrXPcGrf3sGBu52NBK5Gomk/view?usp=sharing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teh-nk2viVrXPcGrf3sGBu52NBK5Gomk/view?usp=sharing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teh-nk2viVrXPcGrf3sGBu52NBK5Gomk/view?usp=sharing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teh-nk2viVrXPcGrf3sGBu52NBK5Gomk/view?usp=sharin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teh-nk2viVrXPcGrf3sGBu52NBK5Gomk/view?usp=sharing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be28e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8be28e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Papers describe one coherent theory, but spread it across prose, equations, definitions, and proofs.</a:t>
            </a:r>
            <a:endParaRPr>
              <a:solidFill>
                <a:srgbClr val="1D1C1D"/>
              </a:solidFill>
            </a:endParaRPr>
          </a:p>
          <a:p>
            <a:pPr indent="-2984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Prosa organizes the same knowledge into reusable formal modules.</a:t>
            </a:r>
            <a:endParaRPr>
              <a:solidFill>
                <a:srgbClr val="1D1C1D"/>
              </a:solidFill>
            </a:endParaRPr>
          </a:p>
          <a:p>
            <a:pPr indent="-2984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Translation therefore requires recovering the theory—not merely translating sentences into Rocq syntax.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be28e2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be28e2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Link: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https://drive.google.com/file/d/1teh-nk2viVrXPcGrf3sGBu52NBK5Gomk/view?usp=sharing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br>
              <a:rPr lang="en"/>
            </a:br>
            <a:br>
              <a:rPr lang="en"/>
            </a:br>
            <a:r>
              <a:rPr lang="en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Behavior </a:t>
            </a:r>
            <a:r>
              <a:rPr lang="en">
                <a:solidFill>
                  <a:schemeClr val="dk1"/>
                </a:solidFill>
              </a:rPr>
              <a:t>Fundamental semantic vocabulary: jobs, arrival times, schedules, service, completion </a:t>
            </a:r>
            <a:r>
              <a:rPr lang="en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model </a:t>
            </a:r>
            <a:r>
              <a:rPr lang="en">
                <a:solidFill>
                  <a:schemeClr val="dk1"/>
                </a:solidFill>
              </a:rPr>
              <a:t>Assumptions restricting possible systems: periodic/sporadic arrivals, EDF/FP, preemption, processor mode l</a:t>
            </a:r>
            <a:r>
              <a:rPr lang="en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analysis.definitions </a:t>
            </a:r>
            <a:r>
              <a:rPr lang="en">
                <a:solidFill>
                  <a:schemeClr val="dk1"/>
                </a:solidFill>
              </a:rPr>
              <a:t>Quantities such as workload, interference, response time, request/demand/supply bounds </a:t>
            </a:r>
            <a:r>
              <a:rPr lang="en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analysis.facts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analysis.abstract </a:t>
            </a:r>
            <a:r>
              <a:rPr lang="en">
                <a:solidFill>
                  <a:schemeClr val="dk1"/>
                </a:solidFill>
              </a:rPr>
              <a:t>Reusable lemmas and generic proof frameworks </a:t>
            </a:r>
            <a:r>
              <a:rPr lang="en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results </a:t>
            </a:r>
            <a:r>
              <a:rPr lang="en">
                <a:solidFill>
                  <a:schemeClr val="dk1"/>
                </a:solidFill>
              </a:rPr>
              <a:t>Instantiated schedulability or response-time theorems </a:t>
            </a:r>
            <a:r>
              <a:rPr lang="en" sz="900">
                <a:solidFill>
                  <a:srgbClr val="188038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implementation </a:t>
            </a:r>
            <a:r>
              <a:rPr lang="en">
                <a:solidFill>
                  <a:schemeClr val="dk1"/>
                </a:solidFill>
              </a:rPr>
              <a:t>Computable versions, refined search spaces, and executable analyses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be28e2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8be28e2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Diagram Link: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https://drive.google.com/file/d/1teh-nk2viVrXPcGrf3sGBu52NBK5Gomk/view?usp=sharing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07d64bd5_25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a07d64bd5_2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Diagram Link: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https://drive.google.com/file/d/1teh-nk2viVrXPcGrf3sGBu52NBK5Gomk/view?usp=sharing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8be28e2e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8be28e2e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direct generator may recognize “EDF” and overlook the other commitments. The IRs make each commitment explicit and independently traceable.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be28e2e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8be28e2e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ModelIR</a:t>
            </a:r>
            <a:r>
              <a:rPr lang="en">
                <a:solidFill>
                  <a:srgbClr val="1D1C1D"/>
                </a:solidFill>
              </a:rPr>
              <a:t> establishes the world.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AnalysisIR</a:t>
            </a:r>
            <a:r>
              <a:rPr lang="en">
                <a:solidFill>
                  <a:srgbClr val="1D1C1D"/>
                </a:solidFill>
              </a:rPr>
              <a:t> defines how that world is measured.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ProofIR</a:t>
            </a:r>
            <a:r>
              <a:rPr lang="en">
                <a:solidFill>
                  <a:srgbClr val="1D1C1D"/>
                </a:solidFill>
              </a:rPr>
              <a:t> states what must be proved using that model and analysis.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ProsaIR</a:t>
            </a:r>
            <a:r>
              <a:rPr lang="en">
                <a:solidFill>
                  <a:srgbClr val="1D1C1D"/>
                </a:solidFill>
              </a:rPr>
              <a:t> records how those semantics can be realized in Prosa.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Diagram Link: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https://drive.google.com/file/d/1teh-nk2viVrXPcGrf3sGBu52NBK5Gomk/view?usp=sharing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07d64bd5_25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a07d64bd5_25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ModelIR</a:t>
            </a:r>
            <a:r>
              <a:rPr lang="en">
                <a:solidFill>
                  <a:srgbClr val="1D1C1D"/>
                </a:solidFill>
              </a:rPr>
              <a:t> establishes the world.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AnalysisIR</a:t>
            </a:r>
            <a:r>
              <a:rPr lang="en">
                <a:solidFill>
                  <a:srgbClr val="1D1C1D"/>
                </a:solidFill>
              </a:rPr>
              <a:t> defines how that world is measured.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ProofIR</a:t>
            </a:r>
            <a:r>
              <a:rPr lang="en">
                <a:solidFill>
                  <a:srgbClr val="1D1C1D"/>
                </a:solidFill>
              </a:rPr>
              <a:t> states what must be proved using that model and analysis.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ProsaIR</a:t>
            </a:r>
            <a:r>
              <a:rPr lang="en">
                <a:solidFill>
                  <a:srgbClr val="1D1C1D"/>
                </a:solidFill>
              </a:rPr>
              <a:t> records how those semantics can be realized in Prosa.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Diagram Link: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https://drive.google.com/file/d/1teh-nk2viVrXPcGrf3sGBu52NBK5Gomk/view?usp=sharing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be28e2e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8be28e2e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ModelIR</a:t>
            </a:r>
            <a:r>
              <a:rPr lang="en">
                <a:solidFill>
                  <a:schemeClr val="dk1"/>
                </a:solidFill>
              </a:rPr>
              <a:t> defines which systems and executions the theorem is talking about.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07d64bd5_25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07d64bd5_2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ModelIR</a:t>
            </a:r>
            <a:r>
              <a:rPr lang="en">
                <a:solidFill>
                  <a:schemeClr val="dk1"/>
                </a:solidFill>
              </a:rPr>
              <a:t> defines which systems and executions the theorem is talking about.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be28e2e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be28e2e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AnalysisIR</a:t>
            </a:r>
            <a:r>
              <a:rPr lang="en">
                <a:solidFill>
                  <a:schemeClr val="dk1"/>
                </a:solidFill>
              </a:rPr>
              <a:t> defines the analytical quantities and the mechanically checkable test—it does not yet claim that the test is correct.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AnalysisIR</a:t>
            </a:r>
            <a:r>
              <a:rPr lang="en">
                <a:solidFill>
                  <a:srgbClr val="1D1C1D"/>
                </a:solidFill>
              </a:rPr>
              <a:t> contains:</a:t>
            </a:r>
            <a:endParaRPr>
              <a:solidFill>
                <a:srgbClr val="1D1C1D"/>
              </a:solidFill>
            </a:endParaRPr>
          </a:p>
          <a:p>
            <a:pPr indent="-298450" lvl="0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Definitions of analytical quantities.</a:t>
            </a:r>
            <a:endParaRPr>
              <a:solidFill>
                <a:srgbClr val="1D1C1D"/>
              </a:solidFill>
            </a:endParaRPr>
          </a:p>
          <a:p>
            <a:pPr indent="-2984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Relations between quantities.</a:t>
            </a:r>
            <a:endParaRPr>
              <a:solidFill>
                <a:srgbClr val="1D1C1D"/>
              </a:solidFill>
            </a:endParaRPr>
          </a:p>
          <a:p>
            <a:pPr indent="-2984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Schedulability criteria.</a:t>
            </a:r>
            <a:endParaRPr>
              <a:solidFill>
                <a:srgbClr val="1D1C1D"/>
              </a:solidFill>
            </a:endParaRPr>
          </a:p>
          <a:p>
            <a:pPr indent="-2984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Analysis-specific assumptions.</a:t>
            </a:r>
            <a:endParaRPr>
              <a:solidFill>
                <a:srgbClr val="1D1C1D"/>
              </a:solidFill>
            </a:endParaRPr>
          </a:p>
          <a:p>
            <a:pPr indent="-2984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en">
                <a:solidFill>
                  <a:srgbClr val="1D1C1D"/>
                </a:solidFill>
              </a:rPr>
              <a:t>References back to the model concepts they depend on.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07d64bd5_2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a07d64bd5_2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ProofIR</a:t>
            </a:r>
            <a:r>
              <a:rPr lang="en">
                <a:solidFill>
                  <a:schemeClr val="dk1"/>
                </a:solidFill>
              </a:rPr>
              <a:t> captures the theorem connecting the analytical test to the desired real-time guarantee.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07d64bd5_25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a07d64bd5_25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ProofIR</a:t>
            </a:r>
            <a:r>
              <a:rPr lang="en">
                <a:solidFill>
                  <a:schemeClr val="dk1"/>
                </a:solidFill>
              </a:rPr>
              <a:t> captures the theorem connecting the analytical test to the desired real-time guarantee.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07d64bd5_25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a07d64bd5_25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07d64bd5_2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07d64bd5_2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07d64bd5_25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a07d64bd5_25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ProofIR: source-oriented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ProsaIR: target-oriented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07d64bd5_25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a07d64bd5_25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 FOR PROSA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Prosa</a:t>
            </a:r>
            <a:endParaRPr/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739350" y="114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{A5BE5884-472B-4BF6-B1F5-DB61CF759C30}</a:tableStyleId>
              </a:tblPr>
              <a:tblGrid>
                <a:gridCol w="2858125"/>
              </a:tblGrid>
              <a:tr h="352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/>
                        <a:t>Modules</a:t>
                      </a:r>
                      <a:endParaRPr b="1" u="sng"/>
                    </a:p>
                  </a:txBody>
                  <a:tcPr marT="91425" marB="91425" marR="91425" marL="91425"/>
                </a:tc>
              </a:tr>
              <a:tr h="6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BEHAVIOR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time • jobs • schedules • service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lang="en" sz="1000"/>
                        <a:t>arrival sequences • readiness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MODELS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tasks • arrivals • processor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•</a:t>
                      </a:r>
                      <a:r>
                        <a:rPr lang="en" sz="1000"/>
                        <a:t> priority • preemption • readiness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ANALYSIS DEFINITIONS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workload • interference • RBF • DBF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lang="en" sz="1000"/>
                        <a:t> SBF • busy interval • schedulability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88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ABSTRACT ANALYSES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Generic RTA frameworks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RESULTS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Concrete verified scheduling analyses such as FP / EDF / resource / preemption ...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1" name="Google Shape;61;p14"/>
          <p:cNvGraphicFramePr/>
          <p:nvPr/>
        </p:nvGraphicFramePr>
        <p:xfrm>
          <a:off x="4110300" y="114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{A5BE5884-472B-4BF6-B1F5-DB61CF759C30}</a:tableStyleId>
              </a:tblPr>
              <a:tblGrid>
                <a:gridCol w="2361000"/>
                <a:gridCol w="2361000"/>
              </a:tblGrid>
              <a:tr h="44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/>
                        <a:t>RTS Paper</a:t>
                      </a:r>
                      <a:endParaRPr b="1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sng"/>
                        <a:t>Prosa Library</a:t>
                      </a:r>
                      <a:endParaRPr b="1" u="sng"/>
                    </a:p>
                  </a:txBody>
                  <a:tcPr marT="91425" marB="91425" marR="91425" marL="91425"/>
                </a:tc>
              </a:tr>
              <a:tr h="7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Basic definitions of the system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Behavior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Mathematical task/ resource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Analysis definitions and bounds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Analysis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Theorem and Proof Arguments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Prosa Organized Real time systems knowledge</a:t>
            </a:r>
            <a:endParaRPr/>
          </a:p>
        </p:txBody>
      </p:sp>
      <p:pic>
        <p:nvPicPr>
          <p:cNvPr id="67" name="Google Shape;67;p15" title="prosa_organization_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963" y="1127225"/>
            <a:ext cx="30060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an RTS Paper Is Structured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2700"/>
            <a:ext cx="3076950" cy="36003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" name="Google Shape;74;p16" title="rts2prosa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800" y="1508100"/>
            <a:ext cx="5450551" cy="2849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an RTS Paper Is Structured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2700"/>
            <a:ext cx="3076950" cy="36003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7" title="paper_too_prosa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1050" y="1170125"/>
            <a:ext cx="5450551" cy="2849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direct paper-to-Prosa translation is unsafe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15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line:</a:t>
            </a:r>
            <a:br>
              <a:rPr lang="en"/>
            </a:br>
            <a:r>
              <a:rPr b="1" i="1" lang="en"/>
              <a:t>“Tasks are scheduled using a preemptive hierarchical scheduler on a uniprocessor.”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single sentence contains several independent formal commitments: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2881425"/>
            <a:ext cx="8520600" cy="18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/>
              <a:t>Processor model  </a:t>
            </a:r>
            <a:r>
              <a:rPr lang="en"/>
              <a:t>      → uniprocessor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/>
              <a:t>Preemption model </a:t>
            </a:r>
            <a:r>
              <a:rPr lang="en"/>
              <a:t>     → fully preemptive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/>
              <a:t>S</a:t>
            </a:r>
            <a:r>
              <a:rPr b="1" lang="en"/>
              <a:t>cheduler structure</a:t>
            </a:r>
            <a:r>
              <a:rPr lang="en"/>
              <a:t>   → hierarchical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/>
              <a:t>Scheduling policy</a:t>
            </a:r>
            <a:r>
              <a:rPr lang="en"/>
              <a:t>      → FP or EDF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 lang="en"/>
              <a:t>R</a:t>
            </a:r>
            <a:r>
              <a:rPr b="1" lang="en"/>
              <a:t>esource model </a:t>
            </a:r>
            <a:r>
              <a:rPr lang="en"/>
              <a:t>        → probabilistic provisioning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Design</a:t>
            </a:r>
            <a:endParaRPr/>
          </a:p>
        </p:txBody>
      </p:sp>
      <p:pic>
        <p:nvPicPr>
          <p:cNvPr id="94" name="Google Shape;94;p19" title="proposed_solution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325" y="1180775"/>
            <a:ext cx="6543351" cy="37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Design</a:t>
            </a:r>
            <a:endParaRPr/>
          </a:p>
        </p:txBody>
      </p:sp>
      <p:pic>
        <p:nvPicPr>
          <p:cNvPr id="100" name="Google Shape;100;p20" title="system_dia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068" y="1170125"/>
            <a:ext cx="659986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IR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09022"/>
            <a:ext cx="5697725" cy="12307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21"/>
          <p:cNvSpPr txBox="1"/>
          <p:nvPr/>
        </p:nvSpPr>
        <p:spPr>
          <a:xfrm>
            <a:off x="0" y="1168788"/>
            <a:ext cx="34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system is being analyzed?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0125" y="1170125"/>
            <a:ext cx="3141476" cy="299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IR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175166" y="1168788"/>
            <a:ext cx="34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system is being analyzed?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00" y="1781563"/>
            <a:ext cx="3752850" cy="1971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075" y="445025"/>
            <a:ext cx="3862750" cy="4502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IR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077" y="1404700"/>
            <a:ext cx="3844400" cy="3577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175" y="1781566"/>
            <a:ext cx="45720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175178" y="1168800"/>
            <a:ext cx="44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the</a:t>
            </a:r>
            <a:r>
              <a:rPr lang="en" sz="1800">
                <a:solidFill>
                  <a:schemeClr val="dk2"/>
                </a:solidFill>
              </a:rPr>
              <a:t> system is being analyzed?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IR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850" y="1100350"/>
            <a:ext cx="3677273" cy="3820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25" y="1781575"/>
            <a:ext cx="3116776" cy="31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 txBox="1"/>
          <p:nvPr/>
        </p:nvSpPr>
        <p:spPr>
          <a:xfrm>
            <a:off x="175178" y="1168800"/>
            <a:ext cx="44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being claimed and why?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IR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605130" y="1168800"/>
            <a:ext cx="44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being claimed and why?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952" y="778840"/>
            <a:ext cx="3268223" cy="41257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27" y="2005850"/>
            <a:ext cx="3781425" cy="2762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ProsaIR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u="sng"/>
              <a:t>The three source IRs are converted into individual semantic requirements:</a:t>
            </a:r>
            <a:endParaRPr sz="64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R1: jobs execute on a uniprocessor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R2: scheduling follows fully preemptive EDF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R3: tasks have relative deadlines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R4: task demand is represented by request/demand bounds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R5: processor availability is represented by a service bound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R6: execution times and periods are random variables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R7: curves carry CDF-based probability guarantees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R8: demand and service probabilities compose under independence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  R9: the p-EDF condition implies probabilistic schedulability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Matching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375" y="1195463"/>
            <a:ext cx="5429250" cy="3152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Prosa IR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3903600" cy="3416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ProsaIR is not another summary of the previous IRs.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is a formalization plan showing what Prosa already supports, what must be composed, and what requires an extension.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299" y="0"/>
            <a:ext cx="3860001" cy="51434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Picture</a:t>
            </a:r>
            <a:endParaRPr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438" y="1017724"/>
            <a:ext cx="6725125" cy="3921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