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7" r:id="rId9"/>
    <p:sldId id="265" r:id="rId10"/>
    <p:sldId id="264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22C1E9-0CEF-BEC7-2046-F996391FC3E7}" v="1761" dt="2026-02-04T18:40:00.2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3fcc216a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3fcc216a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3fcc216a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3fcc216a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3fcc216a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3fcc216a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3fcc216a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3fcc216a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3fcc216a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3fcc216a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C14EAF3-C2E0-553E-56F5-32A3C812F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3fcc216a9_0_27:notes">
            <a:extLst>
              <a:ext uri="{FF2B5EF4-FFF2-40B4-BE49-F238E27FC236}">
                <a16:creationId xmlns:a16="http://schemas.microsoft.com/office/drawing/2014/main" id="{533A092C-CB9F-3267-4727-B0C1094103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3fcc216a9_0_27:notes">
            <a:extLst>
              <a:ext uri="{FF2B5EF4-FFF2-40B4-BE49-F238E27FC236}">
                <a16:creationId xmlns:a16="http://schemas.microsoft.com/office/drawing/2014/main" id="{DF13003F-7065-D76C-2DA1-DC652A9A7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9266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3fcc216a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3fcc216a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41C5384-9521-1D92-84C0-4BA730E5A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3fcc216a9_0_27:notes">
            <a:extLst>
              <a:ext uri="{FF2B5EF4-FFF2-40B4-BE49-F238E27FC236}">
                <a16:creationId xmlns:a16="http://schemas.microsoft.com/office/drawing/2014/main" id="{F82FE0AD-8CCD-1731-7094-3F9C64FBE8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3fcc216a9_0_27:notes">
            <a:extLst>
              <a:ext uri="{FF2B5EF4-FFF2-40B4-BE49-F238E27FC236}">
                <a16:creationId xmlns:a16="http://schemas.microsoft.com/office/drawing/2014/main" id="{358EF5F4-E738-4196-597F-F6388A45CA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085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12E14A5-A0EA-7FB7-1B35-91D3AA260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3fcc216a9_0_27:notes">
            <a:extLst>
              <a:ext uri="{FF2B5EF4-FFF2-40B4-BE49-F238E27FC236}">
                <a16:creationId xmlns:a16="http://schemas.microsoft.com/office/drawing/2014/main" id="{1F24DE7E-BC24-7D69-DD6B-565F5E6EA6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3fcc216a9_0_27:notes">
            <a:extLst>
              <a:ext uri="{FF2B5EF4-FFF2-40B4-BE49-F238E27FC236}">
                <a16:creationId xmlns:a16="http://schemas.microsoft.com/office/drawing/2014/main" id="{E54AD4C1-CC07-FBBF-CFF2-68DC7E343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9681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DE8B179-0276-1DC3-0103-643C529A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3fcc216a9_0_27:notes">
            <a:extLst>
              <a:ext uri="{FF2B5EF4-FFF2-40B4-BE49-F238E27FC236}">
                <a16:creationId xmlns:a16="http://schemas.microsoft.com/office/drawing/2014/main" id="{6FAA4BA3-A7AE-A63A-7CF3-7045F5BE84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3fcc216a9_0_27:notes">
            <a:extLst>
              <a:ext uri="{FF2B5EF4-FFF2-40B4-BE49-F238E27FC236}">
                <a16:creationId xmlns:a16="http://schemas.microsoft.com/office/drawing/2014/main" id="{84115C05-54BA-1B6A-3808-692037C160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3131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Scarcity of data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Poor performance of SOTA LLMs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System Diagram</a:t>
            </a:r>
            <a:endParaRPr/>
          </a:p>
        </p:txBody>
      </p:sp>
      <p:pic>
        <p:nvPicPr>
          <p:cNvPr id="67" name="Google Shape;67;p15" title="rts_ntp_system_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775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System Diagram</a:t>
            </a:r>
            <a:endParaRPr/>
          </a:p>
        </p:txBody>
      </p:sp>
      <p:pic>
        <p:nvPicPr>
          <p:cNvPr id="73" name="Google Shape;73;p16" title="rts_ntp_system_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7753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30AEF9-72CF-1933-B6C4-BBA67DF453D9}"/>
              </a:ext>
            </a:extLst>
          </p:cNvPr>
          <p:cNvSpPr/>
          <p:nvPr/>
        </p:nvSpPr>
        <p:spPr>
          <a:xfrm>
            <a:off x="442374" y="1230658"/>
            <a:ext cx="1278141" cy="577731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Arxiv papers with arxiv api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Requirements: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Query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we get?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Paper metadata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Papers in PDF format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</a:pPr>
            <a:r>
              <a:rPr lang="en">
                <a:solidFill>
                  <a:schemeClr val="accent1"/>
                </a:solidFill>
              </a:rPr>
              <a:t>Collected 217 Papers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IEEE Papers with IEEE api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Requirements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IEEE Xplore Metadat API key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Query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Conference Names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we get?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Paper metadata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No Paper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IEEE Paper Download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Launch chrome in debug mode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Login to IEEE with FIU credentials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Connect to debug session with Selenium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Get paper link from paper metadata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Open the paper in the chrome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Perform element identification with Selenium and Mouse click operations with pyautongui to download the papers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Collected 303 papers</a:t>
            </a:r>
            <a:r>
              <a:rPr lang="en"/>
              <a:t> before session ending of IEEE. Will collect more.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DC19503-87BE-9021-690F-50FA5D740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9DA0552D-6E1D-1172-CA2A-4B765FCA3B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System Diagram</a:t>
            </a:r>
            <a:endParaRPr/>
          </a:p>
        </p:txBody>
      </p:sp>
      <p:pic>
        <p:nvPicPr>
          <p:cNvPr id="73" name="Google Shape;73;p16" title="rts_ntp_system_diagram.drawio.png">
            <a:extLst>
              <a:ext uri="{FF2B5EF4-FFF2-40B4-BE49-F238E27FC236}">
                <a16:creationId xmlns:a16="http://schemas.microsoft.com/office/drawing/2014/main" id="{9BF451EE-9B3E-3393-596B-7160DDFAF1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7753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3C5CF8-F7AB-2649-59ED-FB358CE1A2FE}"/>
              </a:ext>
            </a:extLst>
          </p:cNvPr>
          <p:cNvSpPr/>
          <p:nvPr/>
        </p:nvSpPr>
        <p:spPr>
          <a:xfrm>
            <a:off x="2036558" y="1170500"/>
            <a:ext cx="6632192" cy="690527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5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Paper to Informal Sketch</a:t>
            </a:r>
          </a:p>
        </p:txBody>
      </p:sp>
      <p:pic>
        <p:nvPicPr>
          <p:cNvPr id="2" name="Picture 1" descr="A diagram of a server&#10;&#10;AI-generated content may be incorrect.">
            <a:extLst>
              <a:ext uri="{FF2B5EF4-FFF2-40B4-BE49-F238E27FC236}">
                <a16:creationId xmlns:a16="http://schemas.microsoft.com/office/drawing/2014/main" id="{0C51CF9E-2300-B8D9-5F18-756A73264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1363436"/>
            <a:ext cx="7028089" cy="26928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60AE-273C-868D-8963-B902D0B8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Informal Sketch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0FCDFA1-7030-2498-4FEF-ECAED94FC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318461"/>
            <a:ext cx="86106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672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6E96C61-8B80-D10D-730C-F65D229D7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051AF377-E56A-1DA0-7290-504FECD0A0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System Diagram</a:t>
            </a:r>
            <a:endParaRPr/>
          </a:p>
        </p:txBody>
      </p:sp>
      <p:pic>
        <p:nvPicPr>
          <p:cNvPr id="73" name="Google Shape;73;p16" title="rts_ntp_system_diagram.drawio.png">
            <a:extLst>
              <a:ext uri="{FF2B5EF4-FFF2-40B4-BE49-F238E27FC236}">
                <a16:creationId xmlns:a16="http://schemas.microsoft.com/office/drawing/2014/main" id="{6F71419F-94FF-B766-67FC-FC181021FAA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7753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AA60086-5D28-BCDA-8C4E-98D459D4DF1B}"/>
              </a:ext>
            </a:extLst>
          </p:cNvPr>
          <p:cNvSpPr/>
          <p:nvPr/>
        </p:nvSpPr>
        <p:spPr>
          <a:xfrm>
            <a:off x="6355464" y="2076736"/>
            <a:ext cx="1537680" cy="682363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11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FFBCD-4056-0EB6-4B12-CD6F1D982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FA72F-B340-7A16-D047-BE7E888D3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methods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Dense retrieval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Sparse retrieval</a:t>
            </a:r>
          </a:p>
        </p:txBody>
      </p:sp>
    </p:spTree>
    <p:extLst>
      <p:ext uri="{BB962C8B-B14F-4D97-AF65-F5344CB8AC3E}">
        <p14:creationId xmlns:p14="http://schemas.microsoft.com/office/powerpoint/2010/main" val="1453340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B2242-4E72-D5B8-32A6-0FF498BB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Dense Retrieval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C9F18-629F-2407-CD2A-F0124ED7E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 Model: Nomic-</a:t>
            </a:r>
            <a:r>
              <a:rPr lang="en-US" dirty="0" err="1"/>
              <a:t>embedd</a:t>
            </a:r>
            <a:r>
              <a:rPr lang="en-US" dirty="0"/>
              <a:t>-code</a:t>
            </a:r>
          </a:p>
          <a:p>
            <a:pPr>
              <a:lnSpc>
                <a:spcPct val="114999"/>
              </a:lnSpc>
            </a:pPr>
            <a:r>
              <a:rPr lang="en-US" dirty="0"/>
              <a:t>Vector Database: </a:t>
            </a:r>
            <a:r>
              <a:rPr lang="en-US" dirty="0" err="1"/>
              <a:t>Faiss</a:t>
            </a:r>
            <a:endParaRPr lang="en-US" dirty="0"/>
          </a:p>
          <a:p>
            <a:pPr>
              <a:lnSpc>
                <a:spcPct val="114999"/>
              </a:lnSpc>
            </a:pPr>
            <a:r>
              <a:rPr lang="en-US" dirty="0"/>
              <a:t>Method: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RAG Database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Documentation RAG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Knowledge RAG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Retrieval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Embed Informal Sketch with embedding model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Perform top-k retrieval from both databases</a:t>
            </a:r>
          </a:p>
          <a:p>
            <a:pPr>
              <a:lnSpc>
                <a:spcPct val="114999"/>
              </a:lnSpc>
              <a:buSzPts val="1400"/>
            </a:pPr>
            <a:r>
              <a:rPr lang="en-US" dirty="0"/>
              <a:t>Limitations: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Context length becomes very large as the examples from Knowledge RAG is quite large</a:t>
            </a:r>
          </a:p>
        </p:txBody>
      </p:sp>
    </p:spTree>
    <p:extLst>
      <p:ext uri="{BB962C8B-B14F-4D97-AF65-F5344CB8AC3E}">
        <p14:creationId xmlns:p14="http://schemas.microsoft.com/office/powerpoint/2010/main" val="4108138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E0769-CAF7-1BC5-0316-B38DD32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Sparse Retrieval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228FB-1661-0312-9881-06E623BA2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</a:pPr>
            <a:r>
              <a:rPr lang="en-US" dirty="0"/>
              <a:t>Retrieval Method: BM 25</a:t>
            </a:r>
          </a:p>
          <a:p>
            <a:pPr>
              <a:lnSpc>
                <a:spcPct val="114999"/>
              </a:lnSpc>
            </a:pPr>
            <a:r>
              <a:rPr lang="en-US" dirty="0"/>
              <a:t>Method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For each lemma/theorem/definition/assumption in </a:t>
            </a:r>
            <a:r>
              <a:rPr lang="en-US" dirty="0" err="1"/>
              <a:t>Prosa</a:t>
            </a:r>
            <a:r>
              <a:rPr lang="en-US" dirty="0"/>
              <a:t> Documentation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Collect the description from the </a:t>
            </a:r>
            <a:r>
              <a:rPr lang="en-US" dirty="0" err="1"/>
              <a:t>documentaion</a:t>
            </a:r>
            <a:endParaRPr lang="en-US"/>
          </a:p>
          <a:p>
            <a:pPr lvl="3">
              <a:lnSpc>
                <a:spcPct val="114999"/>
              </a:lnSpc>
            </a:pPr>
            <a:r>
              <a:rPr lang="en-US" dirty="0"/>
              <a:t>Often Insufficient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Generate a description with LLM (Few Shot examples provided)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BM25 Query: Statement from Informal </a:t>
            </a:r>
            <a:r>
              <a:rPr lang="en-US" dirty="0" err="1"/>
              <a:t>sketeches</a:t>
            </a:r>
            <a:r>
              <a:rPr lang="en-US" dirty="0"/>
              <a:t> generated previously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Fetch top-k lemma/theorems etc. From the </a:t>
            </a:r>
            <a:r>
              <a:rPr lang="en-US" dirty="0" err="1"/>
              <a:t>prosa</a:t>
            </a:r>
            <a:r>
              <a:rPr lang="en-US" dirty="0"/>
              <a:t> documentation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Use these to guide the LLM  to generate the </a:t>
            </a:r>
            <a:r>
              <a:rPr lang="en-US" dirty="0" err="1"/>
              <a:t>Prosa</a:t>
            </a:r>
            <a:r>
              <a:rPr lang="en-US" dirty="0"/>
              <a:t> script in the later stage </a:t>
            </a:r>
          </a:p>
          <a:p>
            <a:pPr lvl="1">
              <a:lnSpc>
                <a:spcPct val="114999"/>
              </a:lnSpc>
            </a:pPr>
            <a:endParaRPr lang="en-US" dirty="0"/>
          </a:p>
          <a:p>
            <a:pPr lvl="1">
              <a:lnSpc>
                <a:spcPct val="114999"/>
              </a:lnSpc>
            </a:pPr>
            <a:endParaRPr lang="en-US" dirty="0"/>
          </a:p>
          <a:p>
            <a:pPr marL="114300" indent="0">
              <a:lnSpc>
                <a:spcPct val="114999"/>
              </a:lnSpc>
              <a:buNone/>
            </a:pPr>
            <a:r>
              <a:rPr lang="en-US" dirty="0"/>
              <a:t>**Got the IDEA from the paper </a:t>
            </a:r>
            <a:r>
              <a:rPr lang="en-US" dirty="0">
                <a:solidFill>
                  <a:schemeClr val="accent1"/>
                </a:solidFill>
              </a:rPr>
              <a:t>Rango</a:t>
            </a:r>
            <a:r>
              <a:rPr lang="en-US" dirty="0"/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159806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F5888-DC19-4C55-8FD6-7B5B63975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Evaluate the Retrieval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A8A2A-D265-55B0-E4B0-7C5D6D362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246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Considering 4 options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Option 1: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Generate 5 Unique descriptions of Each Lemma in the </a:t>
            </a:r>
            <a:r>
              <a:rPr lang="en-US" dirty="0" err="1"/>
              <a:t>Prosa</a:t>
            </a:r>
            <a:r>
              <a:rPr lang="en-US" dirty="0"/>
              <a:t> documentation, Use them as query and See if the Retrieval system can fetch those lemma</a:t>
            </a:r>
          </a:p>
          <a:p>
            <a:pPr lvl="3">
              <a:lnSpc>
                <a:spcPct val="114999"/>
              </a:lnSpc>
            </a:pPr>
            <a:r>
              <a:rPr lang="en-US" dirty="0">
                <a:solidFill>
                  <a:schemeClr val="accent1"/>
                </a:solidFill>
              </a:rPr>
              <a:t>Generated the descriptions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Option 2: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Clustering between paper lemma statement and documentation lemma description and use that as ground truth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Option 3: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LLM as Judge: After the retrieval How well does the Code generation work</a:t>
            </a:r>
          </a:p>
          <a:p>
            <a:pPr lvl="3">
              <a:lnSpc>
                <a:spcPct val="114999"/>
              </a:lnSpc>
            </a:pPr>
            <a:r>
              <a:rPr lang="en-US" dirty="0"/>
              <a:t>Context Relevance</a:t>
            </a:r>
          </a:p>
          <a:p>
            <a:pPr lvl="3">
              <a:lnSpc>
                <a:spcPct val="114999"/>
              </a:lnSpc>
            </a:pPr>
            <a:r>
              <a:rPr lang="en-US" dirty="0"/>
              <a:t>Context Completeness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Option 4: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Check final theorem completion count with different RAG systems</a:t>
            </a:r>
          </a:p>
          <a:p>
            <a:pPr lvl="3">
              <a:lnSpc>
                <a:spcPct val="114999"/>
              </a:lnSpc>
            </a:pPr>
            <a:r>
              <a:rPr lang="en-US" dirty="0">
                <a:solidFill>
                  <a:schemeClr val="accent1"/>
                </a:solidFill>
              </a:rPr>
              <a:t>Collecting papers for theorems</a:t>
            </a:r>
          </a:p>
        </p:txBody>
      </p:sp>
    </p:spTree>
    <p:extLst>
      <p:ext uri="{BB962C8B-B14F-4D97-AF65-F5344CB8AC3E}">
        <p14:creationId xmlns:p14="http://schemas.microsoft.com/office/powerpoint/2010/main" val="2936451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3138310-2EE0-2C20-0DEB-20105534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30EAE923-2B36-7926-2563-937F47736A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System Diagram</a:t>
            </a:r>
            <a:endParaRPr/>
          </a:p>
        </p:txBody>
      </p:sp>
      <p:pic>
        <p:nvPicPr>
          <p:cNvPr id="73" name="Google Shape;73;p16" title="rts_ntp_system_diagram.drawio.png">
            <a:extLst>
              <a:ext uri="{FF2B5EF4-FFF2-40B4-BE49-F238E27FC236}">
                <a16:creationId xmlns:a16="http://schemas.microsoft.com/office/drawing/2014/main" id="{21563622-D652-DFE1-38E7-950BDDBE12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7753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A899AD7-2E87-4045-AC25-42E38A33AED9}"/>
              </a:ext>
            </a:extLst>
          </p:cNvPr>
          <p:cNvSpPr/>
          <p:nvPr/>
        </p:nvSpPr>
        <p:spPr>
          <a:xfrm>
            <a:off x="1897764" y="2101228"/>
            <a:ext cx="3350152" cy="600721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C3B2F45-347A-B5E6-718B-400B78070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189" y="0"/>
            <a:ext cx="2561108" cy="5143500"/>
          </a:xfrm>
          <a:prstGeom prst="rect">
            <a:avLst/>
          </a:prstGeom>
        </p:spPr>
      </p:pic>
      <p:sp>
        <p:nvSpPr>
          <p:cNvPr id="6" name="Google Shape;72;p16">
            <a:extLst>
              <a:ext uri="{FF2B5EF4-FFF2-40B4-BE49-F238E27FC236}">
                <a16:creationId xmlns:a16="http://schemas.microsoft.com/office/drawing/2014/main" id="{FC56EEF0-7E83-D46B-8267-B5C672017141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216062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LLM Prompt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1A364E-EA26-7C5D-BD02-699E20DBDB80}"/>
              </a:ext>
            </a:extLst>
          </p:cNvPr>
          <p:cNvSpPr/>
          <p:nvPr/>
        </p:nvSpPr>
        <p:spPr>
          <a:xfrm>
            <a:off x="6621235" y="4131128"/>
            <a:ext cx="1828800" cy="17961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CFF731C-BEF3-83CF-D57C-30B88099A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981507" cy="382461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595959"/>
                </a:solidFill>
              </a:rPr>
              <a:t>The LLM is instructed to generate the </a:t>
            </a:r>
            <a:r>
              <a:rPr lang="en-US" err="1">
                <a:solidFill>
                  <a:srgbClr val="595959"/>
                </a:solidFill>
              </a:rPr>
              <a:t>prosa</a:t>
            </a:r>
            <a:r>
              <a:rPr lang="en-US" dirty="0">
                <a:solidFill>
                  <a:srgbClr val="595959"/>
                </a:solidFill>
              </a:rPr>
              <a:t> script for the informal sketch of the current system invariant.</a:t>
            </a:r>
          </a:p>
          <a:p>
            <a:pPr>
              <a:lnSpc>
                <a:spcPct val="114999"/>
              </a:lnSpc>
            </a:pPr>
            <a:r>
              <a:rPr lang="en-US">
                <a:solidFill>
                  <a:srgbClr val="595959"/>
                </a:solidFill>
              </a:rPr>
              <a:t>The documentation and the examples from the Prosa</a:t>
            </a:r>
            <a:r>
              <a:rPr lang="en-US" dirty="0">
                <a:solidFill>
                  <a:srgbClr val="595959"/>
                </a:solidFill>
              </a:rPr>
              <a:t> documentation are provided as context. 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rgbClr val="595959"/>
                </a:solidFill>
              </a:rPr>
              <a:t>Also, the generated code for the previous system invariants are also being provided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rgbClr val="C00000"/>
                </a:solidFill>
              </a:rPr>
              <a:t>Limitations:</a:t>
            </a:r>
          </a:p>
          <a:p>
            <a:pPr lvl="1">
              <a:lnSpc>
                <a:spcPct val="114999"/>
              </a:lnSpc>
            </a:pPr>
            <a:r>
              <a:rPr lang="en-US" dirty="0">
                <a:solidFill>
                  <a:srgbClr val="595959"/>
                </a:solidFill>
              </a:rPr>
              <a:t>LLM Generates own assumptions of Admitted statement</a:t>
            </a:r>
          </a:p>
          <a:p>
            <a:pPr lvl="1">
              <a:lnSpc>
                <a:spcPct val="114999"/>
              </a:lnSpc>
            </a:pPr>
            <a:r>
              <a:rPr lang="en-US" dirty="0">
                <a:solidFill>
                  <a:srgbClr val="595959"/>
                </a:solidFill>
              </a:rPr>
              <a:t>Thinking about implementing line by line generation</a:t>
            </a:r>
          </a:p>
          <a:p>
            <a:pPr lvl="2">
              <a:lnSpc>
                <a:spcPct val="114999"/>
              </a:lnSpc>
            </a:pPr>
            <a:r>
              <a:rPr lang="en-US" dirty="0">
                <a:solidFill>
                  <a:srgbClr val="595959"/>
                </a:solidFill>
              </a:rPr>
              <a:t>Each line is a tactic</a:t>
            </a:r>
          </a:p>
          <a:p>
            <a:pPr lvl="2">
              <a:lnSpc>
                <a:spcPct val="114999"/>
              </a:lnSpc>
            </a:pPr>
            <a:r>
              <a:rPr lang="en-US" dirty="0">
                <a:solidFill>
                  <a:srgbClr val="595959"/>
                </a:solidFill>
              </a:rPr>
              <a:t>Idea from Rango</a:t>
            </a:r>
          </a:p>
        </p:txBody>
      </p:sp>
    </p:spTree>
    <p:extLst>
      <p:ext uri="{BB962C8B-B14F-4D97-AF65-F5344CB8AC3E}">
        <p14:creationId xmlns:p14="http://schemas.microsoft.com/office/powerpoint/2010/main" val="818643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C7F123A-E6EE-5696-F780-F6D803F56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F20219DD-4874-1BAF-191E-754B491345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System Diagram</a:t>
            </a:r>
            <a:endParaRPr/>
          </a:p>
        </p:txBody>
      </p:sp>
      <p:pic>
        <p:nvPicPr>
          <p:cNvPr id="73" name="Google Shape;73;p16" title="rts_ntp_system_diagram.drawio.png">
            <a:extLst>
              <a:ext uri="{FF2B5EF4-FFF2-40B4-BE49-F238E27FC236}">
                <a16:creationId xmlns:a16="http://schemas.microsoft.com/office/drawing/2014/main" id="{FF845F14-D716-9A94-FD15-E981A1CDE0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7753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AEA17C-5270-9F29-19DA-0F4357A52326}"/>
              </a:ext>
            </a:extLst>
          </p:cNvPr>
          <p:cNvSpPr/>
          <p:nvPr/>
        </p:nvSpPr>
        <p:spPr>
          <a:xfrm>
            <a:off x="150608" y="2656400"/>
            <a:ext cx="8828388" cy="2356042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84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99DEF-57BC-31BD-1D8E-D7E56555C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Compilation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0029E-1F10-C99F-576A-12C539754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generated script is passed through the </a:t>
            </a:r>
            <a:r>
              <a:rPr lang="en-US" dirty="0" err="1"/>
              <a:t>Prosa</a:t>
            </a:r>
            <a:r>
              <a:rPr lang="en-US" dirty="0"/>
              <a:t> Compiler</a:t>
            </a:r>
          </a:p>
          <a:p>
            <a:pPr>
              <a:lnSpc>
                <a:spcPct val="114999"/>
              </a:lnSpc>
            </a:pPr>
            <a:r>
              <a:rPr lang="en-US" dirty="0"/>
              <a:t>If Error occurs, then the </a:t>
            </a:r>
            <a:r>
              <a:rPr lang="en-US" dirty="0" err="1"/>
              <a:t>llm</a:t>
            </a:r>
            <a:r>
              <a:rPr lang="en-US" dirty="0"/>
              <a:t> is prompted with the error message to fix the code</a:t>
            </a:r>
          </a:p>
          <a:p>
            <a:pPr>
              <a:lnSpc>
                <a:spcPct val="114999"/>
              </a:lnSpc>
            </a:pPr>
            <a:r>
              <a:rPr lang="en-US" dirty="0"/>
              <a:t>Issues: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Whole code to solve the error message cannot be passed -&gt; LLM summarizes the code and almost changes the whole structure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Line by line prompting LLM to solve the error message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Can't get the whole context of the code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Sometimes duplicate variables or hypothesis are generated 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Need a method so that the LLM gets the whole code context + knows only which line to correct</a:t>
            </a:r>
          </a:p>
        </p:txBody>
      </p:sp>
    </p:spTree>
    <p:extLst>
      <p:ext uri="{BB962C8B-B14F-4D97-AF65-F5344CB8AC3E}">
        <p14:creationId xmlns:p14="http://schemas.microsoft.com/office/powerpoint/2010/main" val="3780050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9DF5-77F4-BF24-E9A0-08C801C3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Compilation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D2E35-1A05-DD4C-D206-8DB08EE72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code passes without any error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Then three LLMs are prompted to generate the description of the generated code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Then this description is matched with the informal sketch from which the Script was generated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Then a majority voting is performed to finally accept the code</a:t>
            </a:r>
          </a:p>
          <a:p>
            <a:pPr>
              <a:lnSpc>
                <a:spcPct val="114999"/>
              </a:lnSpc>
              <a:buSzPts val="1400"/>
            </a:pPr>
            <a:endParaRPr lang="en-US" dirty="0"/>
          </a:p>
          <a:p>
            <a:pPr>
              <a:lnSpc>
                <a:spcPct val="114999"/>
              </a:lnSpc>
              <a:buSzPts val="1400"/>
            </a:pPr>
            <a:r>
              <a:rPr lang="en-US" dirty="0"/>
              <a:t>This way the initial dataset for generating </a:t>
            </a:r>
            <a:r>
              <a:rPr lang="en-US" dirty="0" err="1"/>
              <a:t>prosa</a:t>
            </a:r>
            <a:r>
              <a:rPr lang="en-US" dirty="0"/>
              <a:t> script from informal sketch is generated</a:t>
            </a:r>
          </a:p>
          <a:p>
            <a:pPr>
              <a:lnSpc>
                <a:spcPct val="114999"/>
              </a:lnSpc>
              <a:buSzPts val="1400"/>
            </a:pPr>
            <a:r>
              <a:rPr lang="en-US" dirty="0"/>
              <a:t>This dataset will be used to train the LLM</a:t>
            </a:r>
          </a:p>
        </p:txBody>
      </p:sp>
    </p:spTree>
    <p:extLst>
      <p:ext uri="{BB962C8B-B14F-4D97-AF65-F5344CB8AC3E}">
        <p14:creationId xmlns:p14="http://schemas.microsoft.com/office/powerpoint/2010/main" val="3181338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8B466-C316-D909-A193-15B3576B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Fine-tune LLM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FB170-F9FA-11CA-5B41-14F69C625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Iterative Fine-tuning of a code Model on the generated Scripts from the previous stage</a:t>
            </a:r>
          </a:p>
          <a:p>
            <a:pPr>
              <a:lnSpc>
                <a:spcPct val="114999"/>
              </a:lnSpc>
            </a:pPr>
            <a:r>
              <a:rPr lang="en-US" dirty="0"/>
              <a:t>Replace the Whole RAG system with fine-tuned LLM</a:t>
            </a:r>
          </a:p>
        </p:txBody>
      </p:sp>
    </p:spTree>
    <p:extLst>
      <p:ext uri="{BB962C8B-B14F-4D97-AF65-F5344CB8AC3E}">
        <p14:creationId xmlns:p14="http://schemas.microsoft.com/office/powerpoint/2010/main" val="84980826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19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Simple Light</vt:lpstr>
      <vt:lpstr>Challenges</vt:lpstr>
      <vt:lpstr>High Level System Diagram</vt:lpstr>
      <vt:lpstr>High Level System Diagram</vt:lpstr>
      <vt:lpstr>Data Collection</vt:lpstr>
      <vt:lpstr>Data Collection</vt:lpstr>
      <vt:lpstr>High Level System Diagram</vt:lpstr>
      <vt:lpstr>Paper to Informal Sketch</vt:lpstr>
      <vt:lpstr>Example Informal Sketch</vt:lpstr>
      <vt:lpstr>High Level System Diagram</vt:lpstr>
      <vt:lpstr>RAG</vt:lpstr>
      <vt:lpstr>Dense Retrieval</vt:lpstr>
      <vt:lpstr>Sparse Retrieval</vt:lpstr>
      <vt:lpstr>Evaluate the Retrieval</vt:lpstr>
      <vt:lpstr>High Level System Diagram</vt:lpstr>
      <vt:lpstr>PowerPoint Presentation</vt:lpstr>
      <vt:lpstr>High Level System Diagram</vt:lpstr>
      <vt:lpstr>Compilation</vt:lpstr>
      <vt:lpstr>Compilation</vt:lpstr>
      <vt:lpstr>Fine-tune LLM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286</cp:revision>
  <dcterms:modified xsi:type="dcterms:W3CDTF">2026-02-04T18:40:11Z</dcterms:modified>
</cp:coreProperties>
</file>